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rawings/vmlDrawing1.vml" ContentType="application/vnd.openxmlformats-officedocument.vmlDrawing"/>
  <Override PartName="/ppt/drawings/vmlDrawing2.vml" ContentType="application/vnd.openxmlformats-officedocument.vmlDrawing"/>
  <Override PartName="/ppt/drawings/vmlDrawing3.vml" ContentType="application/vnd.openxmlformats-officedocument.vmlDrawing"/>
  <Override PartName="/ppt/drawings/vmlDrawing4.vml" ContentType="application/vnd.openxmlformats-officedocument.vmlDrawing"/>
  <Override PartName="/ppt/drawings/vmlDrawing5.vml" ContentType="application/vnd.openxmlformats-officedocument.vmlDrawing"/>
  <Override PartName="/ppt/drawings/vmlDrawing6.vml" ContentType="application/vnd.openxmlformats-officedocument.vmlDrawing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trictFirstAndLastChars="0" embedTrueTypeFonts="1" saveSubsetFonts="1" autoCompressPictures="0">
  <p:sldMasterIdLst>
    <p:sldMasterId id="2147483738" r:id="rId1"/>
  </p:sldMasterIdLst>
  <p:notesMasterIdLst>
    <p:notesMasterId r:id="rId7"/>
  </p:notesMasterIdLst>
  <p:handoutMasterIdLst>
    <p:handoutMasterId r:id="rId8"/>
  </p:handoutMasterIdLst>
  <p:sldIdLst>
    <p:sldId id="256" r:id="rId6"/>
    <p:sldId id="257" r:id="rId5"/>
    <p:sldId id="258" r:id="rId4"/>
    <p:sldId id="259" r:id="rId3"/>
    <p:sldId id="260" r:id="rId2"/>
    <p:sldId id="261" r:id="rId26"/>
    <p:sldId id="262" r:id="rId27"/>
    <p:sldId id="263" r:id="rId28"/>
    <p:sldId id="264" r:id="rId29"/>
    <p:sldId id="265" r:id="rId30"/>
    <p:sldId id="266" r:id="rId31"/>
    <p:sldId id="267" r:id="rId32"/>
    <p:sldId id="268" r:id="rId33"/>
    <p:sldId id="269" r:id="rId34"/>
    <p:sldId id="270" r:id="rId35"/>
    <p:sldId id="271" r:id="rId36"/>
    <p:sldId id="272" r:id="rId37"/>
  </p:sldIdLst>
  <p:sldSz cx="12192000" cy="6858000"/>
  <p:notesSz cx="6858000" cy="9144000"/>
  <p:embeddedFontLst>
    <p:embeddedFont>
      <p:font typeface="Cambria" panose="02040503050406030204" pitchFamily="18" charset="0"/>
      <p:regular r:id="rId9"/>
      <p:bold r:id="rId10"/>
      <p:italic r:id="rId11"/>
      <p:boldItalic r:id="rId12"/>
    </p:embeddedFont>
    <p:embeddedFont>
      <p:font typeface="Inter" panose="02000503000000020004" pitchFamily="2" charset="0"/>
      <p:regular r:id="rId13"/>
      <p:bold r:id="rId14"/>
      <p:italic r:id="rId15"/>
      <p:boldItalic r:id="rId16"/>
    </p:embeddedFont>
    <p:embeddedFont>
      <p:font typeface="Noto Serif Georgian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612D"/>
    <a:srgbClr val="213E10"/>
    <a:srgbClr val="000000"/>
    <a:srgbClr val="244210"/>
    <a:srgbClr val="565555"/>
    <a:srgbClr val="EFE7C9"/>
    <a:srgbClr val="1F3D0E"/>
    <a:srgbClr val="1A340C"/>
    <a:srgbClr val="33621A"/>
    <a:srgbClr val="2948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7472AA7-8BB5-499D-9D65-079A7E681D3C}" v="3203" dt="2026-04-07T11:09:51.298"/>
  </p1510:revLst>
</p1510:revInfo>
</file>

<file path=ppt/tableStyles.xml><?xml version="1.0" encoding="utf-8"?>
<a:tblStyleLst xmlns:a="http://schemas.openxmlformats.org/drawingml/2006/main" def="{C511D2B9-98F8-4DE3-837E-5A89F6EE62D7}">
  <a:tblStyle styleId="{C511D2B9-98F8-4DE3-837E-5A89F6EE62D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12" autoAdjust="0"/>
    <p:restoredTop sz="94641" autoAdjust="0"/>
  </p:normalViewPr>
  <p:slideViewPr>
    <p:cSldViewPr snapToGrid="0">
      <p:cViewPr varScale="1">
        <p:scale>
          <a:sx n="139" d="100"/>
          <a:sy n="139" d="100"/>
        </p:scale>
        <p:origin x="144" y="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4548" y="87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font" Target="fonts/font1.fntdata"/><Relationship Id="rId10" Type="http://schemas.openxmlformats.org/officeDocument/2006/relationships/font" Target="fonts/font2.fntdata"/><Relationship Id="rId11" Type="http://schemas.openxmlformats.org/officeDocument/2006/relationships/font" Target="fonts/font3.fntdata"/><Relationship Id="rId12" Type="http://schemas.openxmlformats.org/officeDocument/2006/relationships/font" Target="fonts/font4.fntdata"/><Relationship Id="rId13" Type="http://schemas.openxmlformats.org/officeDocument/2006/relationships/font" Target="fonts/font5.fntdata"/><Relationship Id="rId14" Type="http://schemas.openxmlformats.org/officeDocument/2006/relationships/font" Target="fonts/font6.fntdata"/><Relationship Id="rId15" Type="http://schemas.openxmlformats.org/officeDocument/2006/relationships/font" Target="fonts/font7.fntdata"/><Relationship Id="rId16" Type="http://schemas.openxmlformats.org/officeDocument/2006/relationships/font" Target="fonts/font8.fntdata"/><Relationship Id="rId17" Type="http://schemas.openxmlformats.org/officeDocument/2006/relationships/font" Target="fonts/font9.fntdata"/><Relationship Id="rId18" Type="http://schemas.openxmlformats.org/officeDocument/2006/relationships/font" Target="fonts/font10.fntdata"/><Relationship Id="rId19" Type="http://schemas.openxmlformats.org/officeDocument/2006/relationships/font" Target="fonts/font11.fntdata"/><Relationship Id="rId20" Type="http://schemas.openxmlformats.org/officeDocument/2006/relationships/font" Target="fonts/font12.fntdata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microsoft.com/office/2015/10/relationships/revisionInfo" Target="revisionInfo.xml"/><Relationship Id="rId26" Type="http://schemas.openxmlformats.org/officeDocument/2006/relationships/slide" Target="slides/slide6.xml"/><Relationship Id="rId27" Type="http://schemas.openxmlformats.org/officeDocument/2006/relationships/slide" Target="slides/slide7.xml"/><Relationship Id="rId28" Type="http://schemas.openxmlformats.org/officeDocument/2006/relationships/slide" Target="slides/slide8.xml"/><Relationship Id="rId29" Type="http://schemas.openxmlformats.org/officeDocument/2006/relationships/slide" Target="slides/slide9.xml"/><Relationship Id="rId30" Type="http://schemas.openxmlformats.org/officeDocument/2006/relationships/slide" Target="slides/slide10.xml"/><Relationship Id="rId31" Type="http://schemas.openxmlformats.org/officeDocument/2006/relationships/slide" Target="slides/slide11.xml"/><Relationship Id="rId32" Type="http://schemas.openxmlformats.org/officeDocument/2006/relationships/slide" Target="slides/slide12.xml"/><Relationship Id="rId33" Type="http://schemas.openxmlformats.org/officeDocument/2006/relationships/slide" Target="slides/slide13.xml"/><Relationship Id="rId34" Type="http://schemas.openxmlformats.org/officeDocument/2006/relationships/slide" Target="slides/slide14.xml"/><Relationship Id="rId35" Type="http://schemas.openxmlformats.org/officeDocument/2006/relationships/slide" Target="slides/slide15.xml"/><Relationship Id="rId36" Type="http://schemas.openxmlformats.org/officeDocument/2006/relationships/slide" Target="slides/slide16.xml"/><Relationship Id="rId37" Type="http://schemas.openxmlformats.org/officeDocument/2006/relationships/slide" Target="slides/slide17.xml"/></Relationships>
</file>

<file path=ppt/drawings/_rels/vmlDrawing1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'1.0' encoding='UTF-8' standalone='yes'?>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EDBDDC-4EBF-EC71-59C5-5312FAC0B4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18C8C-D43E-15E8-B7CC-4E3D4A13ED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DEA4D0-8096-46E0-B1C4-3C126C8F9A37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B357BA-5AC7-F59F-F75B-D2D2643EC0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AA0BAF-C5EC-417D-E73B-4D2B791091A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0E5EB-2A86-49D7-A397-D1C8605AC39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108527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tags" Target="../tags/tag2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6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3.vml"/><Relationship Id="rId2" Type="http://schemas.openxmlformats.org/officeDocument/2006/relationships/tags" Target="../tags/tag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1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4.vml"/><Relationship Id="rId2" Type="http://schemas.openxmlformats.org/officeDocument/2006/relationships/tags" Target="../tags/tag4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5.vml"/><Relationship Id="rId2" Type="http://schemas.openxmlformats.org/officeDocument/2006/relationships/tags" Target="../tags/tag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vmlDrawing" Target="../drawings/vmlDrawing6.vml"/><Relationship Id="rId2" Type="http://schemas.openxmlformats.org/officeDocument/2006/relationships/tags" Target="../tags/tag6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1.emf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Title Company">
    <p:bg>
      <p:bgPr>
        <a:solidFill>
          <a:srgbClr val="213E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4E2A12CF-9CEF-E604-AFF7-47505C2A88E9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369893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0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E2A12CF-9CEF-E604-AFF7-47505C2A88E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4112292F-FBB4-ED21-D1DA-D706478403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l="15965" t="1036" r="15965" b="1036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12192000 w 12192000"/>
              <a:gd name="csY1" fmla="*/ 0 h 6858000"/>
              <a:gd name="csX2" fmla="*/ 12192000 w 12192000"/>
              <a:gd name="csY2" fmla="*/ 6858000 h 6858000"/>
              <a:gd name="csX3" fmla="*/ 0 w 12192000"/>
              <a:gd name="csY3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2B8BC1-B07F-18D8-7DF0-DB8417E1DC2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13E10">
              <a:alpha val="84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6D569C31-D758-7138-4AD1-57E306C7E3D5}"/>
              </a:ext>
            </a:extLst>
          </p:cNvPr>
          <p:cNvSpPr/>
          <p:nvPr userDrawn="1"/>
        </p:nvSpPr>
        <p:spPr>
          <a:xfrm>
            <a:off x="1966686" y="1001270"/>
            <a:ext cx="8258628" cy="5856731"/>
          </a:xfrm>
          <a:custGeom>
            <a:avLst/>
            <a:gdLst>
              <a:gd name="csX0" fmla="*/ 4129314 w 8258628"/>
              <a:gd name="csY0" fmla="*/ 0 h 5856731"/>
              <a:gd name="csX1" fmla="*/ 8258628 w 8258628"/>
              <a:gd name="csY1" fmla="*/ 4129314 h 5856731"/>
              <a:gd name="csX2" fmla="*/ 7934126 w 8258628"/>
              <a:gd name="csY2" fmla="*/ 5736629 h 5856731"/>
              <a:gd name="csX3" fmla="*/ 7876270 w 8258628"/>
              <a:gd name="csY3" fmla="*/ 5856731 h 5856731"/>
              <a:gd name="csX4" fmla="*/ 382358 w 8258628"/>
              <a:gd name="csY4" fmla="*/ 5856731 h 5856731"/>
              <a:gd name="csX5" fmla="*/ 324502 w 8258628"/>
              <a:gd name="csY5" fmla="*/ 5736629 h 5856731"/>
              <a:gd name="csX6" fmla="*/ 0 w 8258628"/>
              <a:gd name="csY6" fmla="*/ 4129314 h 5856731"/>
              <a:gd name="csX7" fmla="*/ 4129314 w 8258628"/>
              <a:gd name="csY7" fmla="*/ 0 h 5856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8258628" h="5856731">
                <a:moveTo>
                  <a:pt x="4129314" y="0"/>
                </a:moveTo>
                <a:cubicBezTo>
                  <a:pt x="6409871" y="0"/>
                  <a:pt x="8258628" y="1848757"/>
                  <a:pt x="8258628" y="4129314"/>
                </a:cubicBezTo>
                <a:cubicBezTo>
                  <a:pt x="8258628" y="4699453"/>
                  <a:pt x="8143081" y="5242605"/>
                  <a:pt x="7934126" y="5736629"/>
                </a:cubicBezTo>
                <a:lnTo>
                  <a:pt x="7876270" y="5856731"/>
                </a:lnTo>
                <a:lnTo>
                  <a:pt x="382358" y="5856731"/>
                </a:lnTo>
                <a:lnTo>
                  <a:pt x="324502" y="5736629"/>
                </a:lnTo>
                <a:cubicBezTo>
                  <a:pt x="115547" y="5242605"/>
                  <a:pt x="0" y="4699453"/>
                  <a:pt x="0" y="4129314"/>
                </a:cubicBezTo>
                <a:cubicBezTo>
                  <a:pt x="0" y="1848757"/>
                  <a:pt x="1848757" y="0"/>
                  <a:pt x="4129314" y="0"/>
                </a:cubicBezTo>
                <a:close/>
              </a:path>
            </a:pathLst>
          </a:custGeom>
          <a:solidFill>
            <a:srgbClr val="000000">
              <a:alpha val="1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 dirty="0"/>
          </a:p>
        </p:txBody>
      </p:sp>
      <p:sp>
        <p:nvSpPr>
          <p:cNvPr id="5" name="Google Shape;14;p2">
            <a:extLst>
              <a:ext uri="{FF2B5EF4-FFF2-40B4-BE49-F238E27FC236}">
                <a16:creationId xmlns:a16="http://schemas.microsoft.com/office/drawing/2014/main" id="{3425AF56-F6CD-9061-EFC1-8F51236A52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569029" y="2220256"/>
            <a:ext cx="7053942" cy="1904522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None/>
              <a:defRPr sz="4400" b="0" kern="120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4956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_Section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4D3C8D4-777A-24EC-1120-66C43981C507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550742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4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D3C8D4-777A-24EC-1120-66C43981C5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Google Shape;76;p10">
            <a:extLst>
              <a:ext uri="{FF2B5EF4-FFF2-40B4-BE49-F238E27FC236}">
                <a16:creationId xmlns:a16="http://schemas.microsoft.com/office/drawing/2014/main" id="{9EB10926-F720-C0DC-E2A1-77C3567B826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96233" y="1647606"/>
            <a:ext cx="8508667" cy="974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5400" b="1" i="0" u="none" strike="noStrike" kern="1200" cap="none" dirty="0">
                <a:solidFill>
                  <a:schemeClr val="bg2"/>
                </a:solidFill>
                <a:latin typeface="+mj-lt"/>
                <a:ea typeface="+mj-ea"/>
                <a:cs typeface="+mj-cs"/>
                <a:sym typeface="Arial"/>
              </a:defRPr>
            </a:lvl1pPr>
            <a:lvl2pPr lvl="1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6047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38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389893" y="383867"/>
            <a:ext cx="11405640" cy="570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 sz="2700" b="1">
                <a:solidFill>
                  <a:schemeClr val="tx2"/>
                </a:solidFill>
                <a:latin typeface="+mj-l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Noto Serif Georgian"/>
              <a:buNone/>
              <a:defRPr sz="2933">
                <a:latin typeface="Noto Serif Georgian"/>
                <a:ea typeface="Noto Serif Georgian"/>
                <a:cs typeface="Noto Serif Georgian"/>
                <a:sym typeface="Noto Serif Georgian"/>
              </a:defRPr>
            </a:lvl9pPr>
          </a:lstStyle>
          <a:p>
            <a:endParaRPr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2"/>
          </p:nvPr>
        </p:nvSpPr>
        <p:spPr>
          <a:xfrm>
            <a:off x="389893" y="1028475"/>
            <a:ext cx="11405640" cy="184666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marL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100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62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7D3C78-F9A2-76B3-FDBA-E471537BF3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9893" y="6159089"/>
            <a:ext cx="11405640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lnSpc>
                <a:spcPct val="100000"/>
              </a:lnSpc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  <a:lvl2pPr marL="615950" indent="0">
              <a:buNone/>
              <a:defRPr/>
            </a:lvl2pPr>
            <a:lvl3pPr marL="1073150" indent="0">
              <a:buNone/>
              <a:defRPr/>
            </a:lvl3pPr>
            <a:lvl4pPr marL="1530350" indent="0">
              <a:buNone/>
              <a:defRPr/>
            </a:lvl4pPr>
            <a:lvl5pPr marL="1987550" indent="0">
              <a:buNone/>
              <a:defRPr/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1164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_Title, Subtitle and Body" preserve="1" userDrawn="1">
  <p:cSld name="1_E_Title, Subtitle and Body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099747E-7B3D-7C73-941E-898C85EC781F}"/>
              </a:ext>
            </a:extLst>
          </p:cNvPr>
          <p:cNvGraphicFramePr>
            <a:graphicFrameLocks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529558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86" name="think-cell Slide" r:id="rId4" imgW="425" imgH="426" progId="TCLayout.ActiveDocument.1">
                  <p:embed/>
                </p:oleObj>
              </mc:Choice>
              <mc:Fallback>
                <p:oleObj name="think-cell Slide" r:id="rId4" imgW="425" imgH="42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99747E-7B3D-7C73-941E-898C85EC78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Google Shape;7;p1">
            <a:extLst>
              <a:ext uri="{FF2B5EF4-FFF2-40B4-BE49-F238E27FC236}">
                <a16:creationId xmlns:a16="http://schemas.microsoft.com/office/drawing/2014/main" id="{2B3A06C5-EA85-2CBC-6DCD-21EEFB290692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11595820" y="6347526"/>
            <a:ext cx="254928" cy="232165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54000" tIns="54000" rIns="54000" bIns="54000" anchor="ctr" anchorCtr="0">
            <a:spAutoFit/>
          </a:bodyPr>
          <a:lstStyle>
            <a:lvl1pPr lvl="0" algn="l" rtl="0">
              <a:buNone/>
              <a:defRPr sz="800">
                <a:solidFill>
                  <a:schemeClr val="bg1">
                    <a:lumMod val="50000"/>
                  </a:schemeClr>
                </a:solidFill>
                <a:latin typeface="+mn-lt"/>
                <a:ea typeface="Inter"/>
                <a:cs typeface="Inter"/>
                <a:sym typeface="Inter"/>
              </a:defRPr>
            </a:lvl1pPr>
            <a:lvl2pPr lvl="1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 rtl="0">
              <a:buNone/>
              <a:defRPr sz="800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4" name="Google Shape;7;p1">
            <a:extLst>
              <a:ext uri="{FF2B5EF4-FFF2-40B4-BE49-F238E27FC236}">
                <a16:creationId xmlns:a16="http://schemas.microsoft.com/office/drawing/2014/main" id="{32D49372-2358-DBB1-DDB5-830E532A65E3}"/>
              </a:ext>
            </a:extLst>
          </p:cNvPr>
          <p:cNvSpPr txBox="1">
            <a:spLocks/>
          </p:cNvSpPr>
          <p:nvPr userDrawn="1"/>
        </p:nvSpPr>
        <p:spPr>
          <a:xfrm>
            <a:off x="10240607" y="6402053"/>
            <a:ext cx="1368965" cy="12311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chemeClr val="tx1"/>
                </a:solidFill>
                <a:latin typeface="+mn-lt"/>
                <a:ea typeface="Inter"/>
                <a:cs typeface="Inter"/>
                <a:sym typeface="Inter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600" b="0" i="0" u="none" strike="noStrike" cap="none">
                <a:solidFill>
                  <a:srgbClr val="999999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r>
              <a:rPr lang="en-IN" sz="800">
                <a:solidFill>
                  <a:schemeClr val="bg1">
                    <a:lumMod val="50000"/>
                  </a:schemeClr>
                </a:solidFill>
              </a:rPr>
              <a:t> Proprietary &amp; Confidential  |</a:t>
            </a:r>
            <a:endParaRPr sz="80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8EDD956-3879-D258-AF9E-E214730E41E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/>
          <a:srcRect t="2984" b="17878"/>
          <a:stretch>
            <a:fillRect/>
          </a:stretch>
        </p:blipFill>
        <p:spPr>
          <a:xfrm>
            <a:off x="0" y="0"/>
            <a:ext cx="12192000" cy="4216392"/>
          </a:xfrm>
          <a:custGeom>
            <a:avLst/>
            <a:gdLst>
              <a:gd name="csX0" fmla="*/ 0 w 12192000"/>
              <a:gd name="csY0" fmla="*/ 0 h 3657600"/>
              <a:gd name="csX1" fmla="*/ 12192000 w 12192000"/>
              <a:gd name="csY1" fmla="*/ 0 h 3657600"/>
              <a:gd name="csX2" fmla="*/ 12192000 w 12192000"/>
              <a:gd name="csY2" fmla="*/ 3657600 h 3657600"/>
              <a:gd name="csX3" fmla="*/ 0 w 12192000"/>
              <a:gd name="csY3" fmla="*/ 3657600 h 36576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3657600">
                <a:moveTo>
                  <a:pt x="0" y="0"/>
                </a:moveTo>
                <a:lnTo>
                  <a:pt x="12192000" y="0"/>
                </a:lnTo>
                <a:lnTo>
                  <a:pt x="12192000" y="3657600"/>
                </a:lnTo>
                <a:lnTo>
                  <a:pt x="0" y="3657600"/>
                </a:lnTo>
                <a:close/>
              </a:path>
            </a:pathLst>
          </a:cu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0FDD871-CB2B-65F2-5292-4C31FD0DEDE3}"/>
              </a:ext>
            </a:extLst>
          </p:cNvPr>
          <p:cNvSpPr/>
          <p:nvPr userDrawn="1"/>
        </p:nvSpPr>
        <p:spPr>
          <a:xfrm>
            <a:off x="0" y="-1"/>
            <a:ext cx="12192000" cy="4216393"/>
          </a:xfrm>
          <a:prstGeom prst="rect">
            <a:avLst/>
          </a:prstGeom>
          <a:solidFill>
            <a:schemeClr val="bg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1" anchor="ctr">
            <a:noAutofit/>
          </a:bodyPr>
          <a:lstStyle/>
          <a:p>
            <a:pPr algn="ctr"/>
            <a:endParaRPr lang="en-IN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134E8BB-CAA5-9A62-22C6-33FFBEB8B496}"/>
              </a:ext>
            </a:extLst>
          </p:cNvPr>
          <p:cNvCxnSpPr/>
          <p:nvPr userDrawn="1"/>
        </p:nvCxnSpPr>
        <p:spPr>
          <a:xfrm>
            <a:off x="371475" y="5232400"/>
            <a:ext cx="1144905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F272E0-A0F7-CE30-5149-4DCD9BA3F5FA}"/>
              </a:ext>
            </a:extLst>
          </p:cNvPr>
          <p:cNvSpPr/>
          <p:nvPr userDrawn="1"/>
        </p:nvSpPr>
        <p:spPr>
          <a:xfrm>
            <a:off x="4127500" y="4559300"/>
            <a:ext cx="3937000" cy="1346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IN" sz="4800" b="1" dirty="0">
                <a:solidFill>
                  <a:schemeClr val="bg2"/>
                </a:solidFill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87051946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vmlDrawing" Target="../drawings/vmlDrawing1.vml"/><Relationship Id="rId8" Type="http://schemas.openxmlformats.org/officeDocument/2006/relationships/tags" Target="../tags/tag1.xml"/><Relationship Id="rId9" Type="http://schemas.openxmlformats.org/officeDocument/2006/relationships/oleObject" Target="../embeddings/oleObject1.bin"/><Relationship Id="rId1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1699DF0-5B37-8761-01BE-31839A765C34}"/>
              </a:ext>
            </a:extLst>
          </p:cNvPr>
          <p:cNvGraphicFramePr>
            <a:graphicFrameLocks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19163928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think-cell Slide" r:id="rId9" imgW="425" imgH="426" progId="TCLayout.ActiveDocument.1">
                  <p:embed/>
                </p:oleObj>
              </mc:Choice>
              <mc:Fallback>
                <p:oleObj name="think-cell Slide" r:id="rId9" imgW="425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699DF0-5B37-8761-01BE-31839A765C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75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35" r:id="rId2"/>
    <p:sldLayoutId id="2147483736" r:id="rId3"/>
    <p:sldLayoutId id="2147483737" r:id="rId4"/>
    <p:sldLayoutId id="2147483739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val="F26B43"/>
          </p15:clr>
        </p15:guide>
        <p15:guide id="2" pos="7680" userDrawn="1">
          <p15:clr>
            <a:srgbClr val="F26B43"/>
          </p15:clr>
        </p15:guide>
        <p15:guide id="3" pos="234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5" orient="horz" userDrawn="1">
          <p15:clr>
            <a:srgbClr val="F26B43"/>
          </p15:clr>
        </p15:guide>
        <p15:guide id="6" orient="horz" pos="3974" userDrawn="1">
          <p15:clr>
            <a:srgbClr val="F26B43"/>
          </p15:clr>
        </p15:guide>
        <p15:guide id="7" orient="horz" pos="144" userDrawn="1">
          <p15:clr>
            <a:srgbClr val="F26B43"/>
          </p15:clr>
        </p15:guide>
        <p15:guide id="8" orient="horz" pos="38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Comprehensive executive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report frames the AI bubble through financial stability and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Global investments concentrate in frontier models and infrastructure, with regional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3133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, Europe, and China signaling overheating risks and valuation-cash 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Technical assessments reveal gaps between AI capabilities and hype, exacerbated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1636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, EU AI Act), and infrastructure bottlenecks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Introduction to the AI Bubble Concept](#1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Economic bubble theory applied to AI investment dynamics](#1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Historical tech bubble analogues and their modern relevance](#1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A56DB"/>
                </a:solidFill>
              </a:rPr>
              <a:t>Economic bubble theory applied to ai investment dynamics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4722876" y="2788920"/>
            <a:ext cx="2743200" cy="5486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</a:rPr>
              <a:t>• Economic bubble theory describes a recurring pattern in which asset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</a:rPr>
              <a:t>• In the AI context, bubble like dynamics can emerge even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</a:rPr>
              <a:t>• The investable surface area spans chips, cloud infrastructure, model providers,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1F2937"/>
                </a:solidFill>
              </a:rPr>
              <a:t>• This combination can produce valuations that embed optimistic adoption curves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Safeguards for retail and institutional investors in ai markets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Retail investor safeguards should focus on preventing mis selling, limiting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Retail focused safeguards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3756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Require that any AI themed product marketing be clearly identifiable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3484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This is particularly important for AI thematic ETFs, AI tokenized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143000"/>
            <a:ext cx="4389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Tailored guidance for institutional investors navigating ai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Portfolio construction and exposure controls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Treat AI exposure as a factor cluster rather than 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3756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Set explicit concentration limits for single name and single platform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3484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Use a barbell approach that pairs high duration AI growth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143000"/>
            <a:ext cx="4389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Designing early warning systems for ai market overheating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Early warning systems should combine market based signals, balance sheet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Core design principles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3133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Use a layered indicator stack that separates valuation heat from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Prefer indicators that are hard to game and can be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1636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Build cross border comparability by anchoring at least one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Monetary policy implications of ai-driven asset inflation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AI driven asset inflation can complicate monetary policy by loosening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primary transmission mechanisms are the wealth effect and the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3133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When equity valuations rise in AI exposed firms, household net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This can support consumption and investment, increase risk taking, and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1636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IMF has explicitly warned that asset prices can become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Historical examples of successful bubble avoidance or mitigation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2108606" cy="52120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10860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53312"/>
            <a:ext cx="210860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92572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Hong Kong property market macroprudential tightening as a leverage brake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65806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748686" y="1280160"/>
            <a:ext cx="2108606" cy="52120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8686" y="1280160"/>
            <a:ext cx="210860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8686" y="1353312"/>
            <a:ext cx="210860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0126" y="1920240"/>
            <a:ext cx="192572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Context and risk 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57292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40172" y="1280160"/>
            <a:ext cx="2108606" cy="52120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40172" y="1280160"/>
            <a:ext cx="210860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40172" y="1353312"/>
            <a:ext cx="210860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1612" y="1920240"/>
            <a:ext cx="192572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Hong Kong faced repeated property upcycles with high household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48779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31659" y="1280160"/>
            <a:ext cx="2108606" cy="52120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31659" y="1280160"/>
            <a:ext cx="210860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31659" y="1353312"/>
            <a:ext cx="210860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3099" y="1920240"/>
            <a:ext cx="192572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The policy objective was not to set prices, but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0265" y="3849624"/>
            <a:ext cx="1828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23145" y="1280160"/>
            <a:ext cx="2108606" cy="521208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23145" y="1280160"/>
            <a:ext cx="2108606" cy="50292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23145" y="1353312"/>
            <a:ext cx="2108606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4585" y="1920240"/>
            <a:ext cx="1925726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</a:rPr>
              <a:t>- Loan to value caps and debt servicing ratio limits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Spillover effects on adjacent tech sectors and global markets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An AI bubble burst would likely propagate through three spillover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1) Adjacent technology sectors with direct revenue dependence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3756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Semiconductors and semiconductor equipment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3484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 pullback in hyperscaler and frontier model developer capital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143000"/>
            <a:ext cx="4389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Valuation multiples in context of historical benchmarks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14300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18872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23444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Valuation multiples are most informative when anchored to historical regimes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228600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33172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Narrative intensity that shifts investor focus from near term cash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3756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338328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2900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Capital availability that lowers the penalty for uncertainty and extends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34840"/>
            <a:ext cx="658368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4480560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6172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 dot com era remains the closest analogue for a</a:t>
            </a:r>
          </a:p>
        </p:txBody>
      </p:sp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632" y="1143000"/>
            <a:ext cx="4389120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Data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Core market and investment datasets used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AI private investment and adoption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1636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- Stanford HAI AI Index 2025 for global and regional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Venture capital and deal activity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Stress-testing frameworks tailored to ai infrastructure and business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Policy objective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Develop repeatable, comparable stress tests that capture AI specific fragilities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3133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Prioritise compute supply shocks, power and grid constraints, and rapid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Systemically relevant AI infrastructure operators, including large data centre developers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1636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Large cloud and platform firms where AI capital expenditure and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Public versus private ai valuation dynamics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Public and private AI valuations are diverging in ways that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Public market dynamics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3133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Public market AI exposure remains highly concentrated in a small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This concentration can lift index level valuations even when the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1636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Nvidia remains a key bellwether for AI infrastructure pricing and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Differentiating speculative hype from durable ai value creation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Speculative phases often share a pattern of narrative dominance, rapid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Durable value creation is more consistently associated with measurable customer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3133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Signals of speculative hype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Valuations justified primarily by total addressable market narratives without evidence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1636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Growth driven by subsidies, free credits, or promotional pricing that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Technical scalability and adoption challenges across industries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5500116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1636" y="1143000"/>
            <a:ext cx="5500116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31636" y="1179576"/>
            <a:ext cx="5500116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Target State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63677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Scaling AI from pilots to enterprise wide and economy wide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73405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These frictions can slow diffusion relative to market expectations, even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3133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228600" cy="10058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87705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2277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In practice, the binding constraint is often organizational and regulatory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1636" y="163677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163677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59068" y="168249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1676" y="172821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Cross industry adoption barriers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1636" y="2734056"/>
            <a:ext cx="5500116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31636" y="2734056"/>
            <a:ext cx="228600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9068" y="2779776"/>
            <a:ext cx="17373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51676" y="2825496"/>
            <a:ext cx="508863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Data quality, access, and rights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455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A56DB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ustom Design">
  <a:themeElements>
    <a:clrScheme name="Custom 9">
      <a:dk1>
        <a:srgbClr val="000000"/>
      </a:dk1>
      <a:lt1>
        <a:srgbClr val="FFFFFF"/>
      </a:lt1>
      <a:dk2>
        <a:srgbClr val="262626"/>
      </a:dk2>
      <a:lt2>
        <a:srgbClr val="566C31"/>
      </a:lt2>
      <a:accent1>
        <a:srgbClr val="EFF3E5"/>
      </a:accent1>
      <a:accent2>
        <a:srgbClr val="33621A"/>
      </a:accent2>
      <a:accent3>
        <a:srgbClr val="1A340C"/>
      </a:accent3>
      <a:accent4>
        <a:srgbClr val="EFE7C9"/>
      </a:accent4>
      <a:accent5>
        <a:srgbClr val="2C5A4F"/>
      </a:accent5>
      <a:accent6>
        <a:srgbClr val="8F482C"/>
      </a:accent6>
      <a:hlink>
        <a:srgbClr val="283754"/>
      </a:hlink>
      <a:folHlink>
        <a:srgbClr val="0097A7"/>
      </a:folHlink>
    </a:clrScheme>
    <a:fontScheme name="Custom 4">
      <a:majorFont>
        <a:latin typeface="Cambria"/>
        <a:ea typeface=""/>
        <a:cs typeface="Noto Serif Georgian"/>
      </a:majorFont>
      <a:minorFont>
        <a:latin typeface="Cambria"/>
        <a:ea typeface=""/>
        <a:cs typeface="Inte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marL="285750" indent="-285750" algn="l">
          <a:buClr>
            <a:schemeClr val="tx1"/>
          </a:buClr>
          <a:buFont typeface="Arial" panose="020B0604020202020204" pitchFamily="34" charset="0"/>
          <a:buChar char="•"/>
          <a:defRPr sz="1600" dirty="0">
            <a:solidFill>
              <a:schemeClr val="tx1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Inter</vt:lpstr>
      <vt:lpstr>Noto Serif Georgian</vt:lpstr>
      <vt:lpstr>Cambria</vt:lpstr>
      <vt:lpstr>Arial</vt:lpstr>
      <vt:lpstr>Custom Design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AI71 Presentation Template</dc:title>
  <dc:creator/>
  <cp:lastModifiedBy/>
  <cp:revision>3</cp:revision>
  <dcterms:modified xsi:type="dcterms:W3CDTF">2026-04-07T22:42:25Z</dcterms:modified>
</cp:coreProperties>
</file>