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AI-Generated Presentation  |  DeckSmith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Comprehensive executive analysis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Introduction to the AI Bubble Concept](#1.-Introduction-to-the-AI-Bubble-Concept) [1.1.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Economic bubble theory applied to AI investment dynamics](#1.1.-Economic-bubble-theory-applied-to-AI-investment-dynamics) [1.2.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Historical tech bubble analogues and their modern relevance](#1.2.-Historical-tech-bubble-analogues-and-their-modern-relevance) [2.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Global AI Investment Landscape Analysis](#2.-Global-AI-Investment-Landscape-Analysis) [2.1.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Regional AI capital flows and sector-specific growth trends](#2.1.-Regional-AI-capital-flows-and-sector-specific-growth-trends) [2.2.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Across major economies, AI governance is converging on risk based obligations, transparency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Key binding and quasi binding frameworks shaping AI governance.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European Union.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The EU AI Act is the most comprehensive cross sector AI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driven asset inflation can complicate monetary policy by loosening financial conditions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primary transmission mechanisms are the wealth effect and the cost of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When equity valuations rise in AI exposed firms, household net worth increases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can support consumption and investment, increase risk taking, and slow the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IMF has explicitly warned that asset prices can become stretched 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Develop repeatable, comparable stress tests that capture AI specific fragilities that 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Prioritise compute supply shocks, power and grid constraints, and rapid margin compression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Systemically relevant AI infrastructure operators, including large data centre developers 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Large cloud and platform firms where AI capital expenditure and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Banks and non bank lenders with concentrated exposure to AI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An AI bubble burst would likely propagate through three spillover layers,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043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5028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028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028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6468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1) Adjacent technology sectors with direct revenue dependence.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8265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2857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857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857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297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Semiconductors and semiconductor equipment.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60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0686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0686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0686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2126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A pullback in hyperscaler and frontier model developer capital expenditure would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3923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8515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8515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8515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9955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Second order effects typically include a sharper correction in wafer starts,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capabilities are strongest where tasks are language centric, pattern heavy, 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Where capabilities are genuinely strong today.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Natural language interfaces for search, summarization, drafting, translation, and customer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Code assistance can accelerate routine development tasks, especially for well specified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632" y="1143000"/>
            <a:ext cx="4389120" cy="5349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 or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Gartner (March 31. 2025).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Worldwide generative AI spending forecast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643,860.00 USD million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Total corporate investment in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252,300,000,000.00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U.S. private AI investment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109,100,000,000.00 USD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CompaniesMarketCap.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Nvidia market capitalization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4,335,000,000,000.00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Annualized growth in outstanding residential mortgage loans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[81](https://www.sec.gov/newsroom/press-releases/2024-58)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Customer notification deadline after awareness of certain incidents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Institution and publication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Geography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2025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2026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United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 area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IMF World Economic Outlook 2025 10 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Date (YYYY.MM.DD)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 AI Act enters into force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 wide AI regulatory framework begins phased implementation.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Commission[11](https://commission.europa.eu/news-and-media/news/ai-act-enters-force-2024-08-01_en)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2024.08.01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AI Act first provisions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AI literacy and prohibited practices obligations begin applying.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Commission[12](https://digital-strategy.ec.europa.eu/en/news/first-rules-artificial-intelligence-act-are-now-applicable)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2025.02.02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General purpose AI obligations apply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Governance rules and obligations for general purpose AI models become applicable.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Commission[18](https://digital-strategy.ec.europa.eu/en/policies/regulatory-framework-ai)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2025.08.02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AI Act majority of rules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Majority of AI Act rules apply and enforcement starts.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European Commission[14](https://ai-act-service-desk.ec.europa.eu/en/ai-act/timeline/timeline-implementation-eu-ai-act)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2026.08.02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NIST Generative AI Profile published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Cross sector risk management guidance for generative AI deployments.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NIST[15](https://www.nist.gov/publications/artificial-intelligence-risk-management-framework-generative-artificial-intelligence)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2024.07.26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