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1.svg" ContentType="image/svg+xml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12192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CEC"/>
    <a:srgbClr val="DCDEF3"/>
    <a:srgbClr val="2C2C2C"/>
    <a:srgbClr val="EF4444"/>
    <a:srgbClr val="16FFBB"/>
    <a:srgbClr val="0A081B"/>
    <a:srgbClr val="44546A"/>
    <a:srgbClr val="030617"/>
    <a:srgbClr val="000421"/>
    <a:srgbClr val="0002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05AC1-8605-48EA-92A3-FBF9C5EB6B26}" v="1017" dt="2026-03-30T13:44:57.378"/>
    <p1510:client id="{4B297813-077F-4AA1-810B-B2A30BCE4693}" v="1711" dt="2026-03-30T20:03:31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6.png"/><Relationship Id="rId10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02BA39D9-9B0B-7AF0-AF99-16EC8B5711BE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09749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BA39D9-9B0B-7AF0-AF99-16EC8B5711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E41534B-B857-A6CB-44A0-4522CDD510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8811805-79F0-6721-B001-EF2CE825CC2F}"/>
              </a:ext>
            </a:extLst>
          </p:cNvPr>
          <p:cNvSpPr/>
          <p:nvPr userDrawn="1"/>
        </p:nvSpPr>
        <p:spPr>
          <a:xfrm>
            <a:off x="-1" y="1141541"/>
            <a:ext cx="8529061" cy="4574918"/>
          </a:xfrm>
          <a:custGeom>
            <a:avLst/>
            <a:gdLst>
              <a:gd name="csX0" fmla="*/ 0 w 8529061"/>
              <a:gd name="csY0" fmla="*/ 0 h 4574918"/>
              <a:gd name="csX1" fmla="*/ 8529061 w 8529061"/>
              <a:gd name="csY1" fmla="*/ 0 h 4574918"/>
              <a:gd name="csX2" fmla="*/ 6865345 w 8529061"/>
              <a:gd name="csY2" fmla="*/ 1663717 h 4574918"/>
              <a:gd name="csX3" fmla="*/ 6865345 w 8529061"/>
              <a:gd name="csY3" fmla="*/ 2917584 h 4574918"/>
              <a:gd name="csX4" fmla="*/ 8522679 w 8529061"/>
              <a:gd name="csY4" fmla="*/ 4574918 h 4574918"/>
              <a:gd name="csX5" fmla="*/ 0 w 8529061"/>
              <a:gd name="csY5" fmla="*/ 4574918 h 4574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529061" h="4574918">
                <a:moveTo>
                  <a:pt x="0" y="0"/>
                </a:moveTo>
                <a:lnTo>
                  <a:pt x="8529061" y="0"/>
                </a:lnTo>
                <a:lnTo>
                  <a:pt x="6865345" y="1663717"/>
                </a:lnTo>
                <a:cubicBezTo>
                  <a:pt x="6519099" y="2009963"/>
                  <a:pt x="6519099" y="2571338"/>
                  <a:pt x="6865345" y="2917584"/>
                </a:cubicBezTo>
                <a:lnTo>
                  <a:pt x="8522679" y="4574918"/>
                </a:lnTo>
                <a:lnTo>
                  <a:pt x="0" y="4574918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8D67FE6-64AA-0564-EFB6-88C4C95A1971}"/>
              </a:ext>
            </a:extLst>
          </p:cNvPr>
          <p:cNvSpPr/>
          <p:nvPr userDrawn="1"/>
        </p:nvSpPr>
        <p:spPr>
          <a:xfrm rot="2700000">
            <a:off x="7263674" y="956986"/>
            <a:ext cx="4950410" cy="4950410"/>
          </a:xfrm>
          <a:custGeom>
            <a:avLst/>
            <a:gdLst>
              <a:gd name="csX0" fmla="*/ 259684 w 4950410"/>
              <a:gd name="csY0" fmla="*/ 259684 h 4950410"/>
              <a:gd name="csX1" fmla="*/ 886618 w 4950410"/>
              <a:gd name="csY1" fmla="*/ 0 h 4950410"/>
              <a:gd name="csX2" fmla="*/ 3469237 w 4950410"/>
              <a:gd name="csY2" fmla="*/ 0 h 4950410"/>
              <a:gd name="csX3" fmla="*/ 4950410 w 4950410"/>
              <a:gd name="csY3" fmla="*/ 1481173 h 4950410"/>
              <a:gd name="csX4" fmla="*/ 4950410 w 4950410"/>
              <a:gd name="csY4" fmla="*/ 4063792 h 4950410"/>
              <a:gd name="csX5" fmla="*/ 4063792 w 4950410"/>
              <a:gd name="csY5" fmla="*/ 4950410 h 4950410"/>
              <a:gd name="csX6" fmla="*/ 886618 w 4950410"/>
              <a:gd name="csY6" fmla="*/ 4950410 h 4950410"/>
              <a:gd name="csX7" fmla="*/ 0 w 4950410"/>
              <a:gd name="csY7" fmla="*/ 4063792 h 4950410"/>
              <a:gd name="csX8" fmla="*/ 0 w 4950410"/>
              <a:gd name="csY8" fmla="*/ 886618 h 4950410"/>
              <a:gd name="csX9" fmla="*/ 259684 w 4950410"/>
              <a:gd name="csY9" fmla="*/ 259684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59684" y="259684"/>
                </a:moveTo>
                <a:cubicBezTo>
                  <a:pt x="420130" y="99238"/>
                  <a:pt x="641785" y="0"/>
                  <a:pt x="886618" y="0"/>
                </a:cubicBezTo>
                <a:lnTo>
                  <a:pt x="3469237" y="0"/>
                </a:lnTo>
                <a:lnTo>
                  <a:pt x="4950410" y="1481173"/>
                </a:lnTo>
                <a:lnTo>
                  <a:pt x="4950410" y="4063792"/>
                </a:lnTo>
                <a:cubicBezTo>
                  <a:pt x="4950410" y="4553458"/>
                  <a:pt x="4553458" y="4950410"/>
                  <a:pt x="4063792" y="4950410"/>
                </a:cubicBezTo>
                <a:lnTo>
                  <a:pt x="886618" y="4950410"/>
                </a:lnTo>
                <a:cubicBezTo>
                  <a:pt x="396952" y="4950410"/>
                  <a:pt x="0" y="4553458"/>
                  <a:pt x="0" y="4063792"/>
                </a:cubicBezTo>
                <a:lnTo>
                  <a:pt x="0" y="886618"/>
                </a:lnTo>
                <a:cubicBezTo>
                  <a:pt x="0" y="641785"/>
                  <a:pt x="99238" y="420130"/>
                  <a:pt x="259684" y="259684"/>
                </a:cubicBezTo>
                <a:close/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234FB-B25D-3BEE-BF02-F70E6DF028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86" r="17210"/>
          <a:stretch>
            <a:fillRect/>
          </a:stretch>
        </p:blipFill>
        <p:spPr>
          <a:xfrm>
            <a:off x="6924598" y="236277"/>
            <a:ext cx="5268235" cy="6385450"/>
          </a:xfrm>
          <a:custGeom>
            <a:avLst/>
            <a:gdLst>
              <a:gd name="csX0" fmla="*/ 3192725 w 5268235"/>
              <a:gd name="csY0" fmla="*/ 1 h 6385450"/>
              <a:gd name="csX1" fmla="*/ 3718076 w 5268235"/>
              <a:gd name="csY1" fmla="*/ 217607 h 6385450"/>
              <a:gd name="csX2" fmla="*/ 5268235 w 5268235"/>
              <a:gd name="csY2" fmla="*/ 1767766 h 6385450"/>
              <a:gd name="csX3" fmla="*/ 5268235 w 5268235"/>
              <a:gd name="csY3" fmla="*/ 4617684 h 6385450"/>
              <a:gd name="csX4" fmla="*/ 3718076 w 5268235"/>
              <a:gd name="csY4" fmla="*/ 6167843 h 6385450"/>
              <a:gd name="csX5" fmla="*/ 2667375 w 5268235"/>
              <a:gd name="csY5" fmla="*/ 6167843 h 6385450"/>
              <a:gd name="csX6" fmla="*/ 217607 w 5268235"/>
              <a:gd name="csY6" fmla="*/ 3718076 h 6385450"/>
              <a:gd name="csX7" fmla="*/ 217607 w 5268235"/>
              <a:gd name="csY7" fmla="*/ 2667375 h 6385450"/>
              <a:gd name="csX8" fmla="*/ 2667375 w 5268235"/>
              <a:gd name="csY8" fmla="*/ 217607 h 6385450"/>
              <a:gd name="csX9" fmla="*/ 3192725 w 5268235"/>
              <a:gd name="csY9" fmla="*/ 1 h 638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268235" h="6385450">
                <a:moveTo>
                  <a:pt x="3192725" y="1"/>
                </a:moveTo>
                <a:cubicBezTo>
                  <a:pt x="3382866" y="0"/>
                  <a:pt x="3573004" y="72536"/>
                  <a:pt x="3718076" y="217607"/>
                </a:cubicBezTo>
                <a:lnTo>
                  <a:pt x="5268235" y="1767766"/>
                </a:lnTo>
                <a:lnTo>
                  <a:pt x="5268235" y="4617684"/>
                </a:lnTo>
                <a:lnTo>
                  <a:pt x="3718076" y="6167843"/>
                </a:lnTo>
                <a:cubicBezTo>
                  <a:pt x="3427933" y="6457986"/>
                  <a:pt x="2957517" y="6457986"/>
                  <a:pt x="2667375" y="6167843"/>
                </a:cubicBezTo>
                <a:lnTo>
                  <a:pt x="217607" y="3718076"/>
                </a:lnTo>
                <a:cubicBezTo>
                  <a:pt x="-72535" y="3427933"/>
                  <a:pt x="-72535" y="2957518"/>
                  <a:pt x="217607" y="2667375"/>
                </a:cubicBezTo>
                <a:lnTo>
                  <a:pt x="2667375" y="217607"/>
                </a:lnTo>
                <a:cubicBezTo>
                  <a:pt x="2812446" y="72536"/>
                  <a:pt x="3002585" y="0"/>
                  <a:pt x="3192725" y="1"/>
                </a:cubicBezTo>
                <a:close/>
              </a:path>
            </a:pathLst>
          </a:cu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8A11165-DE79-A282-6C57-655EFCB8EA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837616"/>
            <a:ext cx="60452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>
              <a:buNone/>
              <a:defRPr lang="ar-SA" sz="40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967C7F2-CFB4-8EB5-B9F3-1B8A209785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3958828"/>
            <a:ext cx="6045200" cy="738664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>
              <a:buNone/>
              <a:defRPr lang="ar-SA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4B21D0-40AC-C383-2CBE-166C5CD0B6F8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05999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B1C474A-C2DC-B9E2-24CC-DA7B4BD433D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901" y="396664"/>
            <a:ext cx="919603" cy="43275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E169891-FEC1-6FE4-A5C4-2BFDBD58A15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535" y="1268265"/>
            <a:ext cx="928665" cy="92866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3762E4-9678-FAF6-1527-183048133FDD}"/>
              </a:ext>
            </a:extLst>
          </p:cNvPr>
          <p:cNvSpPr/>
          <p:nvPr userDrawn="1"/>
        </p:nvSpPr>
        <p:spPr>
          <a:xfrm rot="2700000">
            <a:off x="7642802" y="953795"/>
            <a:ext cx="4950410" cy="4950410"/>
          </a:xfrm>
          <a:custGeom>
            <a:avLst/>
            <a:gdLst>
              <a:gd name="csX0" fmla="*/ 217608 w 4950410"/>
              <a:gd name="csY0" fmla="*/ 217608 h 4950410"/>
              <a:gd name="csX1" fmla="*/ 742958 w 4950410"/>
              <a:gd name="csY1" fmla="*/ 0 h 4950410"/>
              <a:gd name="csX2" fmla="*/ 2935214 w 4950410"/>
              <a:gd name="csY2" fmla="*/ 0 h 4950410"/>
              <a:gd name="csX3" fmla="*/ 4950410 w 4950410"/>
              <a:gd name="csY3" fmla="*/ 2015196 h 4950410"/>
              <a:gd name="csX4" fmla="*/ 4950410 w 4950410"/>
              <a:gd name="csY4" fmla="*/ 4207452 h 4950410"/>
              <a:gd name="csX5" fmla="*/ 4207452 w 4950410"/>
              <a:gd name="csY5" fmla="*/ 4950410 h 4950410"/>
              <a:gd name="csX6" fmla="*/ 742958 w 4950410"/>
              <a:gd name="csY6" fmla="*/ 4950410 h 4950410"/>
              <a:gd name="csX7" fmla="*/ 0 w 4950410"/>
              <a:gd name="csY7" fmla="*/ 4207452 h 4950410"/>
              <a:gd name="csX8" fmla="*/ 0 w 4950410"/>
              <a:gd name="csY8" fmla="*/ 742958 h 4950410"/>
              <a:gd name="csX9" fmla="*/ 217608 w 4950410"/>
              <a:gd name="csY9" fmla="*/ 217608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17608" y="217608"/>
                </a:moveTo>
                <a:cubicBezTo>
                  <a:pt x="352057" y="83158"/>
                  <a:pt x="537796" y="0"/>
                  <a:pt x="742958" y="0"/>
                </a:cubicBezTo>
                <a:lnTo>
                  <a:pt x="2935214" y="0"/>
                </a:lnTo>
                <a:lnTo>
                  <a:pt x="4950410" y="2015196"/>
                </a:lnTo>
                <a:lnTo>
                  <a:pt x="4950410" y="4207452"/>
                </a:lnTo>
                <a:cubicBezTo>
                  <a:pt x="4950410" y="4617776"/>
                  <a:pt x="4617776" y="4950410"/>
                  <a:pt x="4207452" y="4950410"/>
                </a:cubicBezTo>
                <a:lnTo>
                  <a:pt x="742958" y="4950410"/>
                </a:lnTo>
                <a:cubicBezTo>
                  <a:pt x="332634" y="4950410"/>
                  <a:pt x="0" y="4617776"/>
                  <a:pt x="0" y="4207452"/>
                </a:cubicBezTo>
                <a:lnTo>
                  <a:pt x="0" y="742958"/>
                </a:lnTo>
                <a:cubicBezTo>
                  <a:pt x="0" y="537796"/>
                  <a:pt x="83158" y="352057"/>
                  <a:pt x="217608" y="217608"/>
                </a:cubicBezTo>
                <a:close/>
              </a:path>
            </a:pathLst>
          </a:custGeom>
          <a:solidFill>
            <a:schemeClr val="tx2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CE00EA-A638-ABC0-4955-F36108BF36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1A9CC46-644D-42EF-C78B-2CFD27C75B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696686"/>
            <a:ext cx="2299745" cy="2299745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1A933-1DC6-DFD8-617A-8B132ABE9479}"/>
              </a:ext>
            </a:extLst>
          </p:cNvPr>
          <p:cNvSpPr/>
          <p:nvPr userDrawn="1"/>
        </p:nvSpPr>
        <p:spPr>
          <a:xfrm>
            <a:off x="0" y="2603330"/>
            <a:ext cx="11145015" cy="1871130"/>
          </a:xfrm>
          <a:custGeom>
            <a:avLst/>
            <a:gdLst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  <a:gd name="csX0" fmla="*/ 14514 w 11159529"/>
              <a:gd name="csY0" fmla="*/ 0 h 1871130"/>
              <a:gd name="csX1" fmla="*/ 421453 w 11159529"/>
              <a:gd name="csY1" fmla="*/ 0 h 1871130"/>
              <a:gd name="csX2" fmla="*/ 908254 w 11159529"/>
              <a:gd name="csY2" fmla="*/ 0 h 1871130"/>
              <a:gd name="csX3" fmla="*/ 8346625 w 11159529"/>
              <a:gd name="csY3" fmla="*/ 0 h 1871130"/>
              <a:gd name="csX4" fmla="*/ 9343504 w 11159529"/>
              <a:gd name="csY4" fmla="*/ 0 h 1871130"/>
              <a:gd name="csX5" fmla="*/ 9945690 w 11159529"/>
              <a:gd name="csY5" fmla="*/ 0 h 1871130"/>
              <a:gd name="csX6" fmla="*/ 10942569 w 11159529"/>
              <a:gd name="csY6" fmla="*/ 0 h 1871130"/>
              <a:gd name="csX7" fmla="*/ 11149536 w 11159529"/>
              <a:gd name="csY7" fmla="*/ 281569 h 1871130"/>
              <a:gd name="csX8" fmla="*/ 10701308 w 11159529"/>
              <a:gd name="csY8" fmla="*/ 1718815 h 1871130"/>
              <a:gd name="csX9" fmla="*/ 10494364 w 11159529"/>
              <a:gd name="csY9" fmla="*/ 1871130 h 1871130"/>
              <a:gd name="csX10" fmla="*/ 9497485 w 11159529"/>
              <a:gd name="csY10" fmla="*/ 1871130 h 1871130"/>
              <a:gd name="csX11" fmla="*/ 8895299 w 11159529"/>
              <a:gd name="csY11" fmla="*/ 1871130 h 1871130"/>
              <a:gd name="csX12" fmla="*/ 7898420 w 11159529"/>
              <a:gd name="csY12" fmla="*/ 1871130 h 1871130"/>
              <a:gd name="csX13" fmla="*/ 908254 w 11159529"/>
              <a:gd name="csY13" fmla="*/ 1871130 h 1871130"/>
              <a:gd name="csX14" fmla="*/ 421453 w 11159529"/>
              <a:gd name="csY14" fmla="*/ 1871130 h 1871130"/>
              <a:gd name="csX15" fmla="*/ 14514 w 11159529"/>
              <a:gd name="csY15" fmla="*/ 1871130 h 1871130"/>
              <a:gd name="csX16" fmla="*/ 0 w 11159529"/>
              <a:gd name="csY16" fmla="*/ 589813 h 1871130"/>
              <a:gd name="csX17" fmla="*/ 14514 w 11159529"/>
              <a:gd name="csY17" fmla="*/ 0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17" fmla="*/ 91440 w 11159529"/>
              <a:gd name="csY17" fmla="*/ 681253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1145015" h="1871130">
                <a:moveTo>
                  <a:pt x="0" y="0"/>
                </a:moveTo>
                <a:lnTo>
                  <a:pt x="406939" y="0"/>
                </a:lnTo>
                <a:lnTo>
                  <a:pt x="893740" y="0"/>
                </a:lnTo>
                <a:lnTo>
                  <a:pt x="8332111" y="0"/>
                </a:lnTo>
                <a:lnTo>
                  <a:pt x="9328990" y="0"/>
                </a:lnTo>
                <a:lnTo>
                  <a:pt x="9931176" y="0"/>
                </a:lnTo>
                <a:lnTo>
                  <a:pt x="10928055" y="0"/>
                </a:lnTo>
                <a:cubicBezTo>
                  <a:pt x="11074294" y="0"/>
                  <a:pt x="11178579" y="141891"/>
                  <a:pt x="11135022" y="281569"/>
                </a:cubicBezTo>
                <a:lnTo>
                  <a:pt x="10686794" y="1718815"/>
                </a:lnTo>
                <a:cubicBezTo>
                  <a:pt x="10658537" y="1809425"/>
                  <a:pt x="10574700" y="1871130"/>
                  <a:pt x="10479850" y="1871130"/>
                </a:cubicBezTo>
                <a:lnTo>
                  <a:pt x="9482971" y="1871130"/>
                </a:lnTo>
                <a:lnTo>
                  <a:pt x="8880785" y="1871130"/>
                </a:lnTo>
                <a:lnTo>
                  <a:pt x="7883906" y="1871130"/>
                </a:lnTo>
                <a:lnTo>
                  <a:pt x="893740" y="1871130"/>
                </a:lnTo>
                <a:lnTo>
                  <a:pt x="406939" y="1871130"/>
                </a:lnTo>
                <a:lnTo>
                  <a:pt x="0" y="1871130"/>
                </a:lnTo>
              </a:path>
            </a:pathLst>
          </a:custGeom>
          <a:noFill/>
          <a:ln w="2522" cap="flat">
            <a:solidFill>
              <a:schemeClr val="accent1"/>
            </a:solidFill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26994B-CCCD-4417-2F1F-1667759F2D48}"/>
              </a:ext>
            </a:extLst>
          </p:cNvPr>
          <p:cNvSpPr/>
          <p:nvPr userDrawn="1"/>
        </p:nvSpPr>
        <p:spPr>
          <a:xfrm>
            <a:off x="0" y="2383540"/>
            <a:ext cx="10999874" cy="1916749"/>
          </a:xfrm>
          <a:custGeom>
            <a:avLst/>
            <a:gdLst>
              <a:gd name="csX0" fmla="*/ 0 w 10999874"/>
              <a:gd name="csY0" fmla="*/ 0 h 1916749"/>
              <a:gd name="csX1" fmla="*/ 498669 w 10999874"/>
              <a:gd name="csY1" fmla="*/ 0 h 1916749"/>
              <a:gd name="csX2" fmla="*/ 9756442 w 10999874"/>
              <a:gd name="csY2" fmla="*/ 0 h 1916749"/>
              <a:gd name="csX3" fmla="*/ 10777625 w 10999874"/>
              <a:gd name="csY3" fmla="*/ 0 h 1916749"/>
              <a:gd name="csX4" fmla="*/ 10989638 w 10999874"/>
              <a:gd name="csY4" fmla="*/ 288434 h 1916749"/>
              <a:gd name="csX5" fmla="*/ 10530482 w 10999874"/>
              <a:gd name="csY5" fmla="*/ 1760720 h 1916749"/>
              <a:gd name="csX6" fmla="*/ 10318493 w 10999874"/>
              <a:gd name="csY6" fmla="*/ 1916749 h 1916749"/>
              <a:gd name="csX7" fmla="*/ 9297310 w 10999874"/>
              <a:gd name="csY7" fmla="*/ 1916749 h 1916749"/>
              <a:gd name="csX8" fmla="*/ 498669 w 10999874"/>
              <a:gd name="csY8" fmla="*/ 1916749 h 1916749"/>
              <a:gd name="csX9" fmla="*/ 0 w 10999874"/>
              <a:gd name="csY9" fmla="*/ 1916749 h 1916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999874" h="1916749">
                <a:moveTo>
                  <a:pt x="0" y="0"/>
                </a:moveTo>
                <a:lnTo>
                  <a:pt x="498669" y="0"/>
                </a:lnTo>
                <a:lnTo>
                  <a:pt x="9756442" y="0"/>
                </a:lnTo>
                <a:lnTo>
                  <a:pt x="10777625" y="0"/>
                </a:lnTo>
                <a:cubicBezTo>
                  <a:pt x="10927430" y="0"/>
                  <a:pt x="11034257" y="145350"/>
                  <a:pt x="10989638" y="288434"/>
                </a:cubicBezTo>
                <a:lnTo>
                  <a:pt x="10530482" y="1760720"/>
                </a:lnTo>
                <a:cubicBezTo>
                  <a:pt x="10501536" y="1853539"/>
                  <a:pt x="10415655" y="1916749"/>
                  <a:pt x="10318493" y="1916749"/>
                </a:cubicBezTo>
                <a:lnTo>
                  <a:pt x="9297310" y="1916749"/>
                </a:lnTo>
                <a:lnTo>
                  <a:pt x="498669" y="1916749"/>
                </a:lnTo>
                <a:lnTo>
                  <a:pt x="0" y="1916749"/>
                </a:lnTo>
                <a:close/>
              </a:path>
            </a:pathLst>
          </a:custGeom>
          <a:solidFill>
            <a:schemeClr val="bg1"/>
          </a:solidFill>
          <a:ln w="2522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F36BF91-139F-4F93-EA7E-50208B84BC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3064915"/>
            <a:ext cx="10063843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marL="0" indent="0">
              <a:buNone/>
              <a:defRPr lang="ar-SA" sz="36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C47E15-8038-4915-EA5A-25F9E87584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02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618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64894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EEFB5B2-5369-75D0-3154-6B7A697FC4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CD94E8F-123A-729B-EDCE-B9370E52954E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9247" r="19247"/>
          <a:stretch>
            <a:fillRect/>
          </a:stretch>
        </p:blipFill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9852FFA-214F-BF20-9112-7635965132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5512" y="2789556"/>
            <a:ext cx="5166488" cy="570865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DBEE5632-0C83-0154-FBF5-23ED53896343}"/>
              </a:ext>
            </a:extLst>
          </p:cNvPr>
          <p:cNvGrpSpPr/>
          <p:nvPr userDrawn="1"/>
        </p:nvGrpSpPr>
        <p:grpSpPr>
          <a:xfrm>
            <a:off x="4789772" y="1951672"/>
            <a:ext cx="5059078" cy="2416574"/>
            <a:chOff x="4789772" y="1663700"/>
            <a:chExt cx="5059078" cy="241657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46E73A-3538-DC6D-4509-67A1D4FAC1FC}"/>
                </a:ext>
              </a:extLst>
            </p:cNvPr>
            <p:cNvSpPr>
              <a:spLocks/>
            </p:cNvSpPr>
            <p:nvPr/>
          </p:nvSpPr>
          <p:spPr>
            <a:xfrm>
              <a:off x="4789772" y="2602946"/>
              <a:ext cx="5059078" cy="1477328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600" b="1" dirty="0">
                  <a:solidFill>
                    <a:schemeClr val="accent1"/>
                  </a:solidFill>
                  <a:latin typeface="+mj-lt"/>
                </a:rPr>
                <a:t>Thank You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AD680AEB-1E22-7BEC-F0F2-60D8DD518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89772" y="1663700"/>
              <a:ext cx="1356464" cy="638336"/>
            </a:xfrm>
            <a:prstGeom prst="rect">
              <a:avLst/>
            </a:prstGeom>
          </p:spPr>
        </p:pic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CAA2A24-8E9B-F9CF-8B25-522F6EA80A8E}"/>
              </a:ext>
            </a:extLst>
          </p:cNvPr>
          <p:cNvSpPr/>
          <p:nvPr userDrawn="1"/>
        </p:nvSpPr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A418E80-8018-8988-2BF1-42B8F470E109}"/>
              </a:ext>
            </a:extLst>
          </p:cNvPr>
          <p:cNvSpPr/>
          <p:nvPr userDrawn="1"/>
        </p:nvSpPr>
        <p:spPr>
          <a:xfrm>
            <a:off x="4069081" y="0"/>
            <a:ext cx="148958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1AEBA63-31A8-D514-1DA2-2EBCF337481B}"/>
              </a:ext>
            </a:extLst>
          </p:cNvPr>
          <p:cNvSpPr/>
          <p:nvPr userDrawn="1"/>
        </p:nvSpPr>
        <p:spPr>
          <a:xfrm rot="20784708">
            <a:off x="10602755" y="-181462"/>
            <a:ext cx="1672082" cy="1539590"/>
          </a:xfrm>
          <a:custGeom>
            <a:avLst/>
            <a:gdLst>
              <a:gd name="csX0" fmla="*/ 740759 w 1672082"/>
              <a:gd name="csY0" fmla="*/ 141489 h 1539590"/>
              <a:gd name="csX1" fmla="*/ 753608 w 1672082"/>
              <a:gd name="csY1" fmla="*/ 144595 h 1539590"/>
              <a:gd name="csX2" fmla="*/ 735553 w 1672082"/>
              <a:gd name="csY2" fmla="*/ 178906 h 1539590"/>
              <a:gd name="csX3" fmla="*/ 840936 w 1672082"/>
              <a:gd name="csY3" fmla="*/ 698652 h 1539590"/>
              <a:gd name="csX4" fmla="*/ 1519382 w 1672082"/>
              <a:gd name="csY4" fmla="*/ 698652 h 1539590"/>
              <a:gd name="csX5" fmla="*/ 1651111 w 1672082"/>
              <a:gd name="csY5" fmla="*/ 451056 h 1539590"/>
              <a:gd name="csX6" fmla="*/ 1659498 w 1672082"/>
              <a:gd name="csY6" fmla="*/ 363555 h 1539590"/>
              <a:gd name="csX7" fmla="*/ 1672082 w 1672082"/>
              <a:gd name="csY7" fmla="*/ 366597 h 1539590"/>
              <a:gd name="csX8" fmla="*/ 1663751 w 1672082"/>
              <a:gd name="csY8" fmla="*/ 453515 h 1539590"/>
              <a:gd name="csX9" fmla="*/ 1528487 w 1672082"/>
              <a:gd name="csY9" fmla="*/ 707757 h 1539590"/>
              <a:gd name="csX10" fmla="*/ 831831 w 1672082"/>
              <a:gd name="csY10" fmla="*/ 707757 h 1539590"/>
              <a:gd name="csX11" fmla="*/ 723620 w 1672082"/>
              <a:gd name="csY11" fmla="*/ 174060 h 1539590"/>
              <a:gd name="csX12" fmla="*/ 155384 w 1672082"/>
              <a:gd name="csY12" fmla="*/ 0 h 1539590"/>
              <a:gd name="csX13" fmla="*/ 170048 w 1672082"/>
              <a:gd name="csY13" fmla="*/ 3544 h 1539590"/>
              <a:gd name="csX14" fmla="*/ 153385 w 1672082"/>
              <a:gd name="csY14" fmla="*/ 20207 h 1539590"/>
              <a:gd name="csX15" fmla="*/ 153385 w 1672082"/>
              <a:gd name="csY15" fmla="*/ 698652 h 1539590"/>
              <a:gd name="csX16" fmla="*/ 840936 w 1672082"/>
              <a:gd name="csY16" fmla="*/ 1386203 h 1539590"/>
              <a:gd name="csX17" fmla="*/ 1444125 w 1672082"/>
              <a:gd name="csY17" fmla="*/ 1447677 h 1539590"/>
              <a:gd name="csX18" fmla="*/ 1447814 w 1672082"/>
              <a:gd name="csY18" fmla="*/ 1444663 h 1539590"/>
              <a:gd name="csX19" fmla="*/ 1443506 w 1672082"/>
              <a:gd name="csY19" fmla="*/ 1462485 h 1539590"/>
              <a:gd name="csX20" fmla="*/ 1365529 w 1672082"/>
              <a:gd name="csY20" fmla="*/ 1503520 h 1539590"/>
              <a:gd name="csX21" fmla="*/ 831831 w 1672082"/>
              <a:gd name="csY21" fmla="*/ 1395308 h 1539590"/>
              <a:gd name="csX22" fmla="*/ 144282 w 1672082"/>
              <a:gd name="csY22" fmla="*/ 707757 h 1539590"/>
              <a:gd name="csX23" fmla="*/ 144282 w 1672082"/>
              <a:gd name="csY23" fmla="*/ 11102 h 15395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672082" h="1539590">
                <a:moveTo>
                  <a:pt x="740759" y="141489"/>
                </a:moveTo>
                <a:lnTo>
                  <a:pt x="753608" y="144595"/>
                </a:lnTo>
                <a:lnTo>
                  <a:pt x="735553" y="178906"/>
                </a:lnTo>
                <a:cubicBezTo>
                  <a:pt x="665297" y="352154"/>
                  <a:pt x="700425" y="558141"/>
                  <a:pt x="840936" y="698652"/>
                </a:cubicBezTo>
                <a:cubicBezTo>
                  <a:pt x="1028285" y="886001"/>
                  <a:pt x="1332033" y="886001"/>
                  <a:pt x="1519382" y="698652"/>
                </a:cubicBezTo>
                <a:cubicBezTo>
                  <a:pt x="1589638" y="628397"/>
                  <a:pt x="1633548" y="541772"/>
                  <a:pt x="1651111" y="451056"/>
                </a:cubicBezTo>
                <a:lnTo>
                  <a:pt x="1659498" y="363555"/>
                </a:lnTo>
                <a:lnTo>
                  <a:pt x="1672082" y="366597"/>
                </a:lnTo>
                <a:lnTo>
                  <a:pt x="1663751" y="453515"/>
                </a:lnTo>
                <a:cubicBezTo>
                  <a:pt x="1645716" y="546667"/>
                  <a:pt x="1600628" y="635616"/>
                  <a:pt x="1528487" y="707757"/>
                </a:cubicBezTo>
                <a:cubicBezTo>
                  <a:pt x="1336111" y="900133"/>
                  <a:pt x="1024207" y="900133"/>
                  <a:pt x="831831" y="707757"/>
                </a:cubicBezTo>
                <a:cubicBezTo>
                  <a:pt x="687550" y="563475"/>
                  <a:pt x="651479" y="351959"/>
                  <a:pt x="723620" y="174060"/>
                </a:cubicBezTo>
                <a:close/>
                <a:moveTo>
                  <a:pt x="155384" y="0"/>
                </a:moveTo>
                <a:lnTo>
                  <a:pt x="170048" y="3544"/>
                </a:lnTo>
                <a:lnTo>
                  <a:pt x="153385" y="20207"/>
                </a:lnTo>
                <a:cubicBezTo>
                  <a:pt x="-33963" y="207555"/>
                  <a:pt x="-33963" y="511304"/>
                  <a:pt x="153385" y="698652"/>
                </a:cubicBezTo>
                <a:lnTo>
                  <a:pt x="840936" y="1386203"/>
                </a:lnTo>
                <a:cubicBezTo>
                  <a:pt x="1004866" y="1550133"/>
                  <a:pt x="1257915" y="1570624"/>
                  <a:pt x="1444125" y="1447677"/>
                </a:cubicBezTo>
                <a:lnTo>
                  <a:pt x="1447814" y="1444663"/>
                </a:lnTo>
                <a:lnTo>
                  <a:pt x="1443506" y="1462485"/>
                </a:lnTo>
                <a:lnTo>
                  <a:pt x="1365529" y="1503520"/>
                </a:lnTo>
                <a:cubicBezTo>
                  <a:pt x="1187629" y="1575661"/>
                  <a:pt x="976113" y="1539590"/>
                  <a:pt x="831831" y="1395308"/>
                </a:cubicBezTo>
                <a:lnTo>
                  <a:pt x="144282" y="707757"/>
                </a:lnTo>
                <a:cubicBezTo>
                  <a:pt x="-48094" y="515381"/>
                  <a:pt x="-48094" y="203477"/>
                  <a:pt x="144282" y="11102"/>
                </a:cubicBezTo>
                <a:close/>
              </a:path>
            </a:pathLst>
          </a:custGeom>
          <a:solidFill>
            <a:schemeClr val="accent1">
              <a:alpha val="22000"/>
            </a:schemeClr>
          </a:solidFill>
          <a:ln w="321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12970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8F7B93-B10C-916B-F5F6-9D26456D869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66" r:id="rId4"/>
    <p:sldLayoutId id="2147483670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/>
            <a:r>
              <a:t>AI-Generated Presentation  |  DeckSmith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Comprehensive executive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 comprehensive guide on global ai bubble risks, | Monetary policy implications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143000"/>
            <a:ext cx="55001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A comprehensive guide on global ai bubble risks,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Introduction to the AI Bubble Concept](#1.-Introduction-to-the-AI-Bubble-Concept) [1.1.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Economic bubble theory applied to AI investment dynamics](#1.1.-Economic-bubble-theory-applied-to-AI-investment-dynamics) [1.2.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Historical tech bubble analogues and their modern relevance](#1.2.-Historical-tech-bubble-analogues-and-their-modern-relevance) [2.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Global AI Investment Landscape Analysis](#2.-Global-AI-Investment-Landscape-Analysis) [2.1.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Regional AI capital flows and sector-specific growth trends](#2.1.-Regional-AI-capital-flows-and-sector-specific-growth-trends) [2.2.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AI driven asset inflation can complicate monetary policy by loosening financial conditions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8678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1558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1558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1558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2998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The primary transmission mechanisms are the wealth effect and the cost 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3036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5916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5916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When equity valuations rise in AI exposed firms, household net worth increases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7394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0274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0274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0274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1714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This can support consumption and investment, increase risk taking, and slow the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Across major economies, AI governance is converging on risk based obligations, transparency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Key binding and quasi binding frameworks shaping AI governance.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European Union.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The EU AI Act is the most comprehensive cross sector AI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143000"/>
            <a:ext cx="55001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Spillover effects on adjacent tech sectors and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 AI bubble burst would likely propagate through three spillover layers, with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1) Adjacent technology sectors with direct revenue dependence.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Semiconductors and semiconductor equipment.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 pullback in hyperscaler and frontier model developer capital expenditure would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Develop repeatable, comparable stress tests that capture AI specific fragilities that 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Prioritise compute supply shocks, power and grid constraints, and rapid margin compression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Systemically relevant AI infrastructure operators, including large data centre developers 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Large cloud and platform firms where AI capital expenditure and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Banks and non bank lenders with concentrated exposure to AI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Technical scalability and adoption challenges across industries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Current capabilities are strongest where tasks are language centric, pattern heavy, 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Where capabilities are genuinely strong today.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Natural language interfaces for search, summarization, drafting, translation, and customer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Code assistance can accelerate routine development tasks, especially for well specified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Fraud prevention and enforcement in ai-related investment offerings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Fraud risk in AI markets is amplified by complexity, by the ease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8678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1558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1558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1558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2998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Investor protection frameworks should combine preventive controls, rapid detection, and credible enforcement,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3036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5916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5916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Registration and licensing verification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7394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0274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0274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0274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1714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Require platforms and intermediaries to present prominent registration status and regulator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Key Insight: Comprehensive executive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A comprehensive guide on global ai bubble risks,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 (units)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Year or date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Gartner (March 31. 2025).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Worldwide generative AI spending forecast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643,860.00 USD million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Stanford HAI AI Index 2025 reporting.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Total corporate investment in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252,300,000,000.00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Stanford HAI AI Index 2025 reporting.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U.S. private AI investment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109,100,000,000.00 USD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CompaniesMarketCap.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Nvidia market capitalization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4,335,000,000,000.00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Before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After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Reference period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Average LTV ratio on new residential mortgages percent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September 2009 vs recent months in 2014.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55.0%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64.0%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Average DSR on new residential mortgages percent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August 2010 vs recent months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41.0%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Annualized growth in outstanding residential mortgage loa…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Since 2010 vs since Q2 2013.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8.7%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 (Units)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Revised down from 60,000,000.00 Jobs.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ILO projected global jobs created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53,000,000.00 Jobs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Equivalent to the revision magnitude.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ILO implied reduction versus prior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7,000,000.00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Revised down from 1.700%.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Global employment growth rate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1.500%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Down from 53.000%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Labor income share of GDP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52.400%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Spillover effects on adjacent tech sectors and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Institution and publication date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Geography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2025 real GDP growth (%, y y)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2026 real GDP growth (%, y y)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World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United States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Euro area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World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IMF World Economic Outlook 2025 10 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Requirement or milestone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(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Customer notification deadline after awareness of certain…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12/03/2025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(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Compliance date for larger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06/03/2026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(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Compliance date for smaller entities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Technical scalability and adoption challenges across industries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Date (YYYY.MM.DD)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 AI Act enters into force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 wide AI regulatory framework begins phased implementat…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European Commission( 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2024.08.01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AI Act first provisions 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AI literacy and prohibited practices obligations begin ap…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European Commission( 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2025.02.02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General purpose AI obligations apply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Governance rules and obligations for general purpose AI m…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European Commission( 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2025.08.02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AI Act majority of rules 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Majority of AI Act rules apply and enforcement starts.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European Commission( 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2026.08.02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NIST Generative AI Profile published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Cross sector risk management guidance for generative AI d…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NIST( 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2024.07.26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Fraud prevention and enforcement in ai-related investment offerings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Reference basis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Countercyclical capital buffer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Raises bank capital requirements in periods of excess cre…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Increase resilience during credit booms.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Basel Committee CCyB framework (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Supervisory stress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Standardized scenarios applied to banks and systemically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Identify vulnerabilities before repricing events.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Basel Committee guidance on CCyB and macro financial envi…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6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DCDEF3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host Research">
      <a:majorFont>
        <a:latin typeface="Oranienbaum"/>
        <a:ea typeface="inter"/>
        <a:cs typeface="Oranienbaum"/>
      </a:majorFont>
      <a:minorFont>
        <a:latin typeface="Manrope"/>
        <a:ea typeface="inter"/>
        <a:cs typeface="Manrop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inter</vt:lpstr>
      <vt:lpstr>Manrope</vt:lpstr>
      <vt:lpstr>Oranienbaum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