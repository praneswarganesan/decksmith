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trictFirstAndLastChars="0" embedTrueTypeFonts="1" saveSubsetFonts="1" autoCompressPictures="0">
  <p:sldMasterIdLst>
    <p:sldMasterId id="2147483738" r:id="rId1"/>
  </p:sldMasterIdLst>
  <p:notesMasterIdLst>
    <p:notesMasterId r:id="rId7"/>
  </p:notesMasterIdLst>
  <p:handoutMasterIdLst>
    <p:handoutMasterId r:id="rId8"/>
  </p:handoutMasterIdLst>
  <p:sldIdLst>
    <p:sldId id="256" r:id="rId6"/>
    <p:sldId id="257" r:id="rId5"/>
    <p:sldId id="258" r:id="rId4"/>
    <p:sldId id="259" r:id="rId3"/>
    <p:sldId id="260" r:id="rId2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2" r:id="rId37"/>
    <p:sldId id="273" r:id="rId38"/>
  </p:sldIdLst>
  <p:sldSz cx="12192000" cy="6858000"/>
  <p:notesSz cx="6858000" cy="9144000"/>
  <p:embeddedFontLst>
    <p:embeddedFont>
      <p:font typeface="Cambria" panose="02040503050406030204" pitchFamily="18" charset="0"/>
      <p:regular r:id="rId9"/>
      <p:bold r:id="rId10"/>
      <p:italic r:id="rId11"/>
      <p:boldItalic r:id="rId12"/>
    </p:embeddedFont>
    <p:embeddedFont>
      <p:font typeface="Inter" panose="02000503000000020004" pitchFamily="2" charset="0"/>
      <p:regular r:id="rId13"/>
      <p:bold r:id="rId14"/>
      <p:italic r:id="rId15"/>
      <p:boldItalic r:id="rId16"/>
    </p:embeddedFont>
    <p:embeddedFont>
      <p:font typeface="Noto Serif Georgian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612D"/>
    <a:srgbClr val="213E10"/>
    <a:srgbClr val="000000"/>
    <a:srgbClr val="244210"/>
    <a:srgbClr val="565555"/>
    <a:srgbClr val="EFE7C9"/>
    <a:srgbClr val="1F3D0E"/>
    <a:srgbClr val="1A340C"/>
    <a:srgbClr val="33621A"/>
    <a:srgbClr val="2948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472AA7-8BB5-499D-9D65-079A7E681D3C}" v="3203" dt="2026-04-07T11:09:51.298"/>
  </p1510:revLst>
</p1510:revInfo>
</file>

<file path=ppt/tableStyles.xml><?xml version="1.0" encoding="utf-8"?>
<a:tblStyleLst xmlns:a="http://schemas.openxmlformats.org/drawingml/2006/main" def="{C511D2B9-98F8-4DE3-837E-5A89F6EE62D7}">
  <a:tblStyle styleId="{C511D2B9-98F8-4DE3-837E-5A89F6EE62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12" autoAdjust="0"/>
    <p:restoredTop sz="94641" autoAdjust="0"/>
  </p:normalViewPr>
  <p:slideViewPr>
    <p:cSldViewPr snapToGrid="0">
      <p:cViewPr varScale="1">
        <p:scale>
          <a:sx n="139" d="100"/>
          <a:sy n="139" d="100"/>
        </p:scale>
        <p:origin x="144" y="2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548" y="87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Relationship Id="rId17" Type="http://schemas.openxmlformats.org/officeDocument/2006/relationships/font" Target="fonts/font9.fntdata"/><Relationship Id="rId18" Type="http://schemas.openxmlformats.org/officeDocument/2006/relationships/font" Target="fonts/font10.fntdata"/><Relationship Id="rId19" Type="http://schemas.openxmlformats.org/officeDocument/2006/relationships/font" Target="fonts/font11.fntdata"/><Relationship Id="rId20" Type="http://schemas.openxmlformats.org/officeDocument/2006/relationships/font" Target="fonts/font12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AEDBDDC-4EBF-EC71-59C5-5312FAC0B4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318C8C-D43E-15E8-B7CC-4E3D4A13ED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DEA4D0-8096-46E0-B1C4-3C126C8F9A3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B357BA-5AC7-F59F-F75B-D2D2643EC0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A0BAF-C5EC-417D-E73B-4D2B791091A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0E5EB-2A86-49D7-A397-D1C8605AC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08527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Relationship Id="rId6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Title Company">
    <p:bg>
      <p:bgPr>
        <a:solidFill>
          <a:srgbClr val="213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E2A12CF-9CEF-E604-AFF7-47505C2A88E9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369893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2A12CF-9CEF-E604-AFF7-47505C2A88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112292F-FBB4-ED21-D1DA-D706478403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15965" t="1036" r="15965" b="1036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2B8BC1-B07F-18D8-7DF0-DB8417E1DC2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E10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6D569C31-D758-7138-4AD1-57E306C7E3D5}"/>
              </a:ext>
            </a:extLst>
          </p:cNvPr>
          <p:cNvSpPr/>
          <p:nvPr userDrawn="1"/>
        </p:nvSpPr>
        <p:spPr>
          <a:xfrm>
            <a:off x="1966686" y="1001270"/>
            <a:ext cx="8258628" cy="5856731"/>
          </a:xfrm>
          <a:custGeom>
            <a:avLst/>
            <a:gdLst>
              <a:gd name="csX0" fmla="*/ 4129314 w 8258628"/>
              <a:gd name="csY0" fmla="*/ 0 h 5856731"/>
              <a:gd name="csX1" fmla="*/ 8258628 w 8258628"/>
              <a:gd name="csY1" fmla="*/ 4129314 h 5856731"/>
              <a:gd name="csX2" fmla="*/ 7934126 w 8258628"/>
              <a:gd name="csY2" fmla="*/ 5736629 h 5856731"/>
              <a:gd name="csX3" fmla="*/ 7876270 w 8258628"/>
              <a:gd name="csY3" fmla="*/ 5856731 h 5856731"/>
              <a:gd name="csX4" fmla="*/ 382358 w 8258628"/>
              <a:gd name="csY4" fmla="*/ 5856731 h 5856731"/>
              <a:gd name="csX5" fmla="*/ 324502 w 8258628"/>
              <a:gd name="csY5" fmla="*/ 5736629 h 5856731"/>
              <a:gd name="csX6" fmla="*/ 0 w 8258628"/>
              <a:gd name="csY6" fmla="*/ 4129314 h 5856731"/>
              <a:gd name="csX7" fmla="*/ 4129314 w 8258628"/>
              <a:gd name="csY7" fmla="*/ 0 h 5856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8258628" h="5856731">
                <a:moveTo>
                  <a:pt x="4129314" y="0"/>
                </a:moveTo>
                <a:cubicBezTo>
                  <a:pt x="6409871" y="0"/>
                  <a:pt x="8258628" y="1848757"/>
                  <a:pt x="8258628" y="4129314"/>
                </a:cubicBezTo>
                <a:cubicBezTo>
                  <a:pt x="8258628" y="4699453"/>
                  <a:pt x="8143081" y="5242605"/>
                  <a:pt x="7934126" y="5736629"/>
                </a:cubicBezTo>
                <a:lnTo>
                  <a:pt x="7876270" y="5856731"/>
                </a:lnTo>
                <a:lnTo>
                  <a:pt x="382358" y="5856731"/>
                </a:lnTo>
                <a:lnTo>
                  <a:pt x="324502" y="5736629"/>
                </a:lnTo>
                <a:cubicBezTo>
                  <a:pt x="115547" y="5242605"/>
                  <a:pt x="0" y="4699453"/>
                  <a:pt x="0" y="4129314"/>
                </a:cubicBezTo>
                <a:cubicBezTo>
                  <a:pt x="0" y="1848757"/>
                  <a:pt x="1848757" y="0"/>
                  <a:pt x="4129314" y="0"/>
                </a:cubicBezTo>
                <a:close/>
              </a:path>
            </a:pathLst>
          </a:custGeom>
          <a:solidFill>
            <a:srgbClr val="000000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5" name="Google Shape;14;p2">
            <a:extLst>
              <a:ext uri="{FF2B5EF4-FFF2-40B4-BE49-F238E27FC236}">
                <a16:creationId xmlns:a16="http://schemas.microsoft.com/office/drawing/2014/main" id="{3425AF56-F6CD-9061-EFC1-8F51236A522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569029" y="2220256"/>
            <a:ext cx="7053942" cy="190452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None/>
              <a:defRPr sz="4400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956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Section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4D3C8D4-777A-24EC-1120-66C43981C507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55074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4D3C8D4-777A-24EC-1120-66C43981C5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Google Shape;76;p10">
            <a:extLst>
              <a:ext uri="{FF2B5EF4-FFF2-40B4-BE49-F238E27FC236}">
                <a16:creationId xmlns:a16="http://schemas.microsoft.com/office/drawing/2014/main" id="{9EB10926-F720-C0DC-E2A1-77C3567B826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96233" y="1647606"/>
            <a:ext cx="8508667" cy="974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5400" b="1" i="0" u="none" strike="noStrike" kern="1200" cap="none" dirty="0">
                <a:solidFill>
                  <a:schemeClr val="bg2"/>
                </a:solidFill>
                <a:latin typeface="+mj-lt"/>
                <a:ea typeface="+mj-ea"/>
                <a:cs typeface="+mj-cs"/>
                <a:sym typeface="Arial"/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6047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_Title, Subtitle and Body" preserve="1" userDrawn="1">
  <p:cSld name="1_E_Title, Subtitle and Bod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099747E-7B3D-7C73-941E-898C85EC781F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529558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99747E-7B3D-7C73-941E-898C85EC78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389893" y="383867"/>
            <a:ext cx="11405640" cy="57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700" b="1">
                <a:solidFill>
                  <a:schemeClr val="tx2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9pPr>
          </a:lstStyle>
          <a:p>
            <a:endParaRPr dirty="0"/>
          </a:p>
        </p:txBody>
      </p:sp>
      <p:sp>
        <p:nvSpPr>
          <p:cNvPr id="93" name="Google Shape;93;p14"/>
          <p:cNvSpPr txBox="1">
            <a:spLocks noGrp="1"/>
          </p:cNvSpPr>
          <p:nvPr>
            <p:ph type="subTitle" idx="2"/>
          </p:nvPr>
        </p:nvSpPr>
        <p:spPr>
          <a:xfrm>
            <a:off x="389893" y="1028475"/>
            <a:ext cx="11405640" cy="184666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tx1"/>
                </a:solidFill>
                <a:latin typeface="+mn-l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7D3C78-F9A2-76B3-FDBA-E471537BF3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9893" y="6159089"/>
            <a:ext cx="11405640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800" b="0">
                <a:solidFill>
                  <a:schemeClr val="bg1">
                    <a:lumMod val="50000"/>
                  </a:schemeClr>
                </a:solidFill>
              </a:defRPr>
            </a:lvl1pPr>
            <a:lvl2pPr marL="615950" indent="0">
              <a:buNone/>
              <a:defRPr/>
            </a:lvl2pPr>
            <a:lvl3pPr marL="1073150" indent="0">
              <a:buNone/>
              <a:defRPr/>
            </a:lvl3pPr>
            <a:lvl4pPr marL="1530350" indent="0">
              <a:buNone/>
              <a:defRPr/>
            </a:lvl4pPr>
            <a:lvl5pPr marL="1987550" indent="0">
              <a:buNone/>
              <a:defRPr/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3" name="Google Shape;7;p1">
            <a:extLst>
              <a:ext uri="{FF2B5EF4-FFF2-40B4-BE49-F238E27FC236}">
                <a16:creationId xmlns:a16="http://schemas.microsoft.com/office/drawing/2014/main" id="{2B3A06C5-EA85-2CBC-6DCD-21EEFB290692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1595820" y="6347526"/>
            <a:ext cx="254928" cy="23216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54000" tIns="54000" rIns="54000" bIns="54000" anchor="ctr" anchorCtr="0">
            <a:spAutoFit/>
          </a:bodyPr>
          <a:lstStyle>
            <a:lvl1pPr lvl="0" algn="l" rtl="0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" name="Google Shape;7;p1">
            <a:extLst>
              <a:ext uri="{FF2B5EF4-FFF2-40B4-BE49-F238E27FC236}">
                <a16:creationId xmlns:a16="http://schemas.microsoft.com/office/drawing/2014/main" id="{32D49372-2358-DBB1-DDB5-830E532A65E3}"/>
              </a:ext>
            </a:extLst>
          </p:cNvPr>
          <p:cNvSpPr txBox="1">
            <a:spLocks/>
          </p:cNvSpPr>
          <p:nvPr userDrawn="1"/>
        </p:nvSpPr>
        <p:spPr>
          <a:xfrm>
            <a:off x="10240607" y="6402053"/>
            <a:ext cx="136896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chemeClr val="tx1"/>
                </a:solidFill>
                <a:latin typeface="+mn-lt"/>
                <a:ea typeface="Inter"/>
                <a:cs typeface="Inter"/>
                <a:sym typeface="Inter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IN" sz="800">
                <a:solidFill>
                  <a:schemeClr val="bg1">
                    <a:lumMod val="50000"/>
                  </a:schemeClr>
                </a:solidFill>
              </a:rPr>
              <a:t> Proprietary &amp; Confidential  |</a:t>
            </a:r>
            <a:endParaRPr sz="8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00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_Title, Subtitle and Body" preserve="1" userDrawn="1">
  <p:cSld name="1_E_Title, Subtitle and Bod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099747E-7B3D-7C73-941E-898C85EC781F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529558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99747E-7B3D-7C73-941E-898C85EC78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7D3C78-F9A2-76B3-FDBA-E471537BF3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9893" y="6159089"/>
            <a:ext cx="11405640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800" b="0">
                <a:solidFill>
                  <a:schemeClr val="bg1">
                    <a:lumMod val="50000"/>
                  </a:schemeClr>
                </a:solidFill>
              </a:defRPr>
            </a:lvl1pPr>
            <a:lvl2pPr marL="615950" indent="0">
              <a:buNone/>
              <a:defRPr/>
            </a:lvl2pPr>
            <a:lvl3pPr marL="1073150" indent="0">
              <a:buNone/>
              <a:defRPr/>
            </a:lvl3pPr>
            <a:lvl4pPr marL="1530350" indent="0">
              <a:buNone/>
              <a:defRPr/>
            </a:lvl4pPr>
            <a:lvl5pPr marL="1987550" indent="0">
              <a:buNone/>
              <a:defRPr/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3" name="Google Shape;7;p1">
            <a:extLst>
              <a:ext uri="{FF2B5EF4-FFF2-40B4-BE49-F238E27FC236}">
                <a16:creationId xmlns:a16="http://schemas.microsoft.com/office/drawing/2014/main" id="{2B3A06C5-EA85-2CBC-6DCD-21EEFB290692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1595820" y="6347526"/>
            <a:ext cx="254928" cy="23216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54000" tIns="54000" rIns="54000" bIns="54000" anchor="ctr" anchorCtr="0">
            <a:spAutoFit/>
          </a:bodyPr>
          <a:lstStyle>
            <a:lvl1pPr lvl="0" algn="l" rtl="0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" name="Google Shape;7;p1">
            <a:extLst>
              <a:ext uri="{FF2B5EF4-FFF2-40B4-BE49-F238E27FC236}">
                <a16:creationId xmlns:a16="http://schemas.microsoft.com/office/drawing/2014/main" id="{32D49372-2358-DBB1-DDB5-830E532A65E3}"/>
              </a:ext>
            </a:extLst>
          </p:cNvPr>
          <p:cNvSpPr txBox="1">
            <a:spLocks/>
          </p:cNvSpPr>
          <p:nvPr userDrawn="1"/>
        </p:nvSpPr>
        <p:spPr>
          <a:xfrm>
            <a:off x="10240607" y="6402053"/>
            <a:ext cx="136896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chemeClr val="tx1"/>
                </a:solidFill>
                <a:latin typeface="+mn-lt"/>
                <a:ea typeface="Inter"/>
                <a:cs typeface="Inter"/>
                <a:sym typeface="Inter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IN" sz="800">
                <a:solidFill>
                  <a:schemeClr val="bg1">
                    <a:lumMod val="50000"/>
                  </a:schemeClr>
                </a:solidFill>
              </a:rPr>
              <a:t> Proprietary &amp; Confidential  |</a:t>
            </a:r>
            <a:endParaRPr sz="8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164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_Title, Subtitle and Body" preserve="1" userDrawn="1">
  <p:cSld name="1_E_Title, Subtitle and Bod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099747E-7B3D-7C73-941E-898C85EC781F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529558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99747E-7B3D-7C73-941E-898C85EC78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Google Shape;7;p1">
            <a:extLst>
              <a:ext uri="{FF2B5EF4-FFF2-40B4-BE49-F238E27FC236}">
                <a16:creationId xmlns:a16="http://schemas.microsoft.com/office/drawing/2014/main" id="{2B3A06C5-EA85-2CBC-6DCD-21EEFB290692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1595820" y="6347526"/>
            <a:ext cx="254928" cy="23216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54000" tIns="54000" rIns="54000" bIns="54000" anchor="ctr" anchorCtr="0">
            <a:spAutoFit/>
          </a:bodyPr>
          <a:lstStyle>
            <a:lvl1pPr lvl="0" algn="l" rtl="0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" name="Google Shape;7;p1">
            <a:extLst>
              <a:ext uri="{FF2B5EF4-FFF2-40B4-BE49-F238E27FC236}">
                <a16:creationId xmlns:a16="http://schemas.microsoft.com/office/drawing/2014/main" id="{32D49372-2358-DBB1-DDB5-830E532A65E3}"/>
              </a:ext>
            </a:extLst>
          </p:cNvPr>
          <p:cNvSpPr txBox="1">
            <a:spLocks/>
          </p:cNvSpPr>
          <p:nvPr userDrawn="1"/>
        </p:nvSpPr>
        <p:spPr>
          <a:xfrm>
            <a:off x="10240607" y="6402053"/>
            <a:ext cx="136896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chemeClr val="tx1"/>
                </a:solidFill>
                <a:latin typeface="+mn-lt"/>
                <a:ea typeface="Inter"/>
                <a:cs typeface="Inter"/>
                <a:sym typeface="Inter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IN" sz="800">
                <a:solidFill>
                  <a:schemeClr val="bg1">
                    <a:lumMod val="50000"/>
                  </a:schemeClr>
                </a:solidFill>
              </a:rPr>
              <a:t> Proprietary &amp; Confidential  |</a:t>
            </a:r>
            <a:endParaRPr sz="8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EDD956-3879-D258-AF9E-E214730E4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2984" b="17878"/>
          <a:stretch>
            <a:fillRect/>
          </a:stretch>
        </p:blipFill>
        <p:spPr>
          <a:xfrm>
            <a:off x="0" y="0"/>
            <a:ext cx="12192000" cy="4216392"/>
          </a:xfrm>
          <a:custGeom>
            <a:avLst/>
            <a:gdLst>
              <a:gd name="csX0" fmla="*/ 0 w 12192000"/>
              <a:gd name="csY0" fmla="*/ 0 h 3657600"/>
              <a:gd name="csX1" fmla="*/ 12192000 w 12192000"/>
              <a:gd name="csY1" fmla="*/ 0 h 3657600"/>
              <a:gd name="csX2" fmla="*/ 12192000 w 12192000"/>
              <a:gd name="csY2" fmla="*/ 3657600 h 3657600"/>
              <a:gd name="csX3" fmla="*/ 0 w 12192000"/>
              <a:gd name="csY3" fmla="*/ 3657600 h 365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657600">
                <a:moveTo>
                  <a:pt x="0" y="0"/>
                </a:moveTo>
                <a:lnTo>
                  <a:pt x="12192000" y="0"/>
                </a:lnTo>
                <a:lnTo>
                  <a:pt x="12192000" y="3657600"/>
                </a:lnTo>
                <a:lnTo>
                  <a:pt x="0" y="3657600"/>
                </a:lnTo>
                <a:close/>
              </a:path>
            </a:pathLst>
          </a:cu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0FDD871-CB2B-65F2-5292-4C31FD0DEDE3}"/>
              </a:ext>
            </a:extLst>
          </p:cNvPr>
          <p:cNvSpPr/>
          <p:nvPr userDrawn="1"/>
        </p:nvSpPr>
        <p:spPr>
          <a:xfrm>
            <a:off x="0" y="-1"/>
            <a:ext cx="12192000" cy="4216393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34E8BB-CAA5-9A62-22C6-33FFBEB8B496}"/>
              </a:ext>
            </a:extLst>
          </p:cNvPr>
          <p:cNvCxnSpPr/>
          <p:nvPr userDrawn="1"/>
        </p:nvCxnSpPr>
        <p:spPr>
          <a:xfrm>
            <a:off x="371475" y="5232400"/>
            <a:ext cx="1144905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4F272E0-A0F7-CE30-5149-4DCD9BA3F5FA}"/>
              </a:ext>
            </a:extLst>
          </p:cNvPr>
          <p:cNvSpPr/>
          <p:nvPr userDrawn="1"/>
        </p:nvSpPr>
        <p:spPr>
          <a:xfrm>
            <a:off x="4127500" y="4559300"/>
            <a:ext cx="3937000" cy="134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IN" sz="4800" b="1" dirty="0">
                <a:solidFill>
                  <a:schemeClr val="bg2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8705194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vmlDrawing" Target="../drawings/vmlDrawing1.vml"/><Relationship Id="rId8" Type="http://schemas.openxmlformats.org/officeDocument/2006/relationships/tags" Target="../tags/tag1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1699DF0-5B37-8761-01BE-31839A765C34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9163928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think-cell Slide" r:id="rId9" imgW="425" imgH="426" progId="TCLayout.ActiveDocument.1">
                  <p:embed/>
                </p:oleObj>
              </mc:Choice>
              <mc:Fallback>
                <p:oleObj name="think-cell Slide" r:id="rId9" imgW="425" imgH="42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699DF0-5B37-8761-01BE-31839A765C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8753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35" r:id="rId2"/>
    <p:sldLayoutId id="2147483736" r:id="rId3"/>
    <p:sldLayoutId id="2147483737" r:id="rId4"/>
    <p:sldLayoutId id="2147483739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34" userDrawn="1">
          <p15:clr>
            <a:srgbClr val="F26B43"/>
          </p15:clr>
        </p15:guide>
        <p15:guide id="4" pos="7446" userDrawn="1">
          <p15:clr>
            <a:srgbClr val="F26B43"/>
          </p15:clr>
        </p15:guide>
        <p15:guide id="5" orient="horz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  <p15:guide id="7" orient="horz" pos="144" userDrawn="1">
          <p15:clr>
            <a:srgbClr val="F26B43"/>
          </p15:clr>
        </p15:guide>
        <p15:guide id="8" orient="horz" pos="388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Comprehensive executive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3444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 comprehensive guide on global ai bubble risks, | Monetary policy implications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636" y="1143000"/>
            <a:ext cx="5500116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A comprehensive guide on global ai bubble risks,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500116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1636" y="1143000"/>
            <a:ext cx="5500116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1636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Proposed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3677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Introduction to the AI Bubble Concept](#1.-Introduction-to-the-AI-Bubble-Concept) [1.1.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73405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Economic bubble theory applied to AI investment dynamics](#1.1.-Economic-bubble-theory-applied-to-AI-investment-dynamics) [1.2.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3133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3133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87705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2277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Historical tech bubble analogues and their modern relevance](#1.2.-Historical-tech-bubble-analogues-and-their-modern-relevance) [2.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163677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9068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1676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Global AI Investment Landscape Analysis](#2.-Global-AI-Investment-Landscape-Analysis) [2.1.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1636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1636" y="273405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9068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1676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Regional AI capital flows and sector-specific growth trends](#2.1.-Regional-AI-capital-flows-and-sector-specific-growth-trends) [2.2.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Monetary policy implications of ai-driven asset inflation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AI driven asset inflation can complicate monetary policy by loosening financial conditions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38678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1558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21558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1558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2998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The primary transmission mechanisms are the wealth effect and the cost of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03036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5916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5916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5916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7356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When equity valuations rise in AI exposed firms, household net worth increases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7394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0274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0274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0274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1714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This can support consumption and investment, increase risk taking, and slow the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Current global ai regulatory frameworks and oversight mechanisms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3444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Across major economies, AI governance is converging on risk based obligations, transparency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Key binding and quasi binding frameworks shaping AI governance.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338328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2900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- European Union.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43484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448056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2628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- The EU AI Act is the most comprehensive cross sector AI</a:t>
            </a:r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636" y="1143000"/>
            <a:ext cx="5500116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Spillover effects on adjacent tech sectors and global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34440"/>
            <a:ext cx="10863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An AI bubble burst would likely propagate through three spillover layers, with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11274552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0863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1) Adjacent technology sectors with direct revenue dependence.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11274552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338328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29000"/>
            <a:ext cx="10863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Semiconductors and semiconductor equipment.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11274552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43484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448056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26280"/>
            <a:ext cx="10863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 pullback in hyperscaler and frontier model developer capital expenditure would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Stress-testing frameworks tailored to ai infrastructure and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500116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1636" y="1143000"/>
            <a:ext cx="5500116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1636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Proposed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3677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Develop repeatable, comparable stress tests that capture AI specific fragilities that 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73405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Prioritise compute supply shocks, power and grid constraints, and rapid margin compression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3133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3133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87705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2277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- Systemically relevant AI infrastructure operators, including large data centre developers 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163677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9068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1676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- Large cloud and platform firms where AI capital expenditure and AI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1636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1636" y="273405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9068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1676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- Banks and non bank lenders with concentrated exposure to AI infrastructure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Technical scalability and adoption challenges across industries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34440"/>
            <a:ext cx="10863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Current capabilities are strongest where tasks are language centric, pattern heavy, 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11274552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0863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Where capabilities are genuinely strong today.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11274552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338328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29000"/>
            <a:ext cx="10863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Natural language interfaces for search, summarization, drafting, translation, and customer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11274552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43484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448056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26280"/>
            <a:ext cx="10863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Code assistance can accelerate routine development tasks, especially for well specified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Fraud prevention and enforcement in ai-related investment offerings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Fraud risk in AI markets is amplified by complexity, by the ease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38678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1558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21558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1558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2998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Investor protection frameworks should combine preventive controls, rapid detection, and credible enforcement,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03036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5916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5916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5916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7356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- Registration and licensing verification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7394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0274" y="1280160"/>
            <a:ext cx="2681478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0274" y="1280160"/>
            <a:ext cx="2681478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0274" y="1353312"/>
            <a:ext cx="268147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1714" y="1920240"/>
            <a:ext cx="249859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- Require platforms and intermediaries to present prominent registration status and regulator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56DB"/>
                </a:solidFill>
              </a:rPr>
              <a:t>Key Insight: Comprehensive executive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2876" y="2788920"/>
            <a:ext cx="27432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56DB"/>
                </a:solidFill>
              </a:rPr>
              <a:t>Questions?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2876" y="2788920"/>
            <a:ext cx="27432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A comprehensive guide on global ai bubble risks,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7455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Indicator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Value (units)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Year or date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Gartner (March 31. 2025).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Worldwide generative AI spending forecast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643,860.00 USD million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Stanford HAI AI Index 2025 reporting.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Total corporate investment in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252,300,000,000.00 USD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Stanford HAI AI Index 2025 reporting.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U.S. private AI investment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109,100,000,000.00 USD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CompaniesMarketCap.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Nvidia market capitalization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2026-01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4,335,000,000,000.00 USD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Monetary policy implications of ai-driven asset inflation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7455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Before tightening value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After tightening value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Reference period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Average LTV ratio on new residential mortgages percent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September 2009 vs recent months in 2014.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55.0%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64.0%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Average DSR on new residential mortgages percent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August 2010 vs recent months in 2014.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35.0%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41.0%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Annualized growth in outstanding residential mortgage loa…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Since 2010 vs since Q2 2013.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4.2%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8.7%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Current global ai regulatory frameworks and oversight mechanisms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7455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Indicator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Value (Units)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Revised down from 60,000,000.00 Jobs.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ILO projected global jobs created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53,000,000.00 Jobs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Equivalent to the revision magnitude.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ILO implied reduction versus prior projection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7,000,000.00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Revised down from 1.700%.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Global employment growth rate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1.500%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Down from 53.000% in 2014.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Labor income share of GDP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52.400%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Spillover effects on adjacent tech sectors and global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7455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Institution and publication date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Geography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2025 real GDP growth (%, y y)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2026 real GDP growth (%, y y)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World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OECD Economic Outlook press release 2025 06 03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United States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OECD Economic Outlook press release 2025 06 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Euro area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1.0%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OECD Economic Outlook press release 2025 06 03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OECD Economic Outlook press release 2025 06 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World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3.2%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3.1%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IMF World Economic Outlook 2025 10 14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Stress-testing frameworks tailored to ai infrastructure and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7455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Requirement or milestone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Unit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Days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(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Customer notification deadline after awareness of certain…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12/03/2025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(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Compliance date for larger entities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06/03/2026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(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Compliance date for smaller entities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Technical scalability and adoption challenges across industries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7455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Date (YYYY.MM.DD)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EU AI Act enters into force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EU wide AI regulatory framework begins phased implementat…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European Commission( 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2024.08.01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AI Act first provisions apply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AI literacy and prohibited practices obligations begin ap…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European Commission( 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2025.02.02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General purpose AI obligations apply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Governance rules and obligations for general purpose AI m…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European Commission( 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2025.08.02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AI Act majority of rules apply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Majority of AI Act rules apply and enforcement starts.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European Commission( 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2026.08.02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NIST Generative AI Profile published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Cross sector risk management guidance for generative AI d…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NIST( 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2024.07.26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Fraud prevention and enforcement in ai-related investment offerings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7455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Objective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Mechanism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Reference basis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Countercyclical capital buffer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Raises bank capital requirements in periods of excess cre…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Increase resilience during credit booms.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Basel Committee CCyB framework (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Supervisory stress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Standardized scenarios applied to banks and systemically 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Identify vulnerabilities before repricing events.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Basel Committee guidance on CCyB and macro financial envi…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ustom Design">
  <a:themeElements>
    <a:clrScheme name="Custom 9">
      <a:dk1>
        <a:srgbClr val="000000"/>
      </a:dk1>
      <a:lt1>
        <a:srgbClr val="FFFFFF"/>
      </a:lt1>
      <a:dk2>
        <a:srgbClr val="262626"/>
      </a:dk2>
      <a:lt2>
        <a:srgbClr val="566C31"/>
      </a:lt2>
      <a:accent1>
        <a:srgbClr val="EFF3E5"/>
      </a:accent1>
      <a:accent2>
        <a:srgbClr val="33621A"/>
      </a:accent2>
      <a:accent3>
        <a:srgbClr val="1A340C"/>
      </a:accent3>
      <a:accent4>
        <a:srgbClr val="EFE7C9"/>
      </a:accent4>
      <a:accent5>
        <a:srgbClr val="2C5A4F"/>
      </a:accent5>
      <a:accent6>
        <a:srgbClr val="8F482C"/>
      </a:accent6>
      <a:hlink>
        <a:srgbClr val="283754"/>
      </a:hlink>
      <a:folHlink>
        <a:srgbClr val="0097A7"/>
      </a:folHlink>
    </a:clrScheme>
    <a:fontScheme name="Custom 4">
      <a:majorFont>
        <a:latin typeface="Cambria"/>
        <a:ea typeface=""/>
        <a:cs typeface="Noto Serif Georgian"/>
      </a:majorFont>
      <a:minorFont>
        <a:latin typeface="Cambria"/>
        <a:ea typeface=""/>
        <a:cs typeface="Inte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285750" indent="-285750" algn="l">
          <a:buClr>
            <a:schemeClr val="tx1"/>
          </a:buClr>
          <a:buFont typeface="Arial" panose="020B0604020202020204" pitchFamily="34" charset="0"/>
          <a:buChar char="•"/>
          <a:defRPr sz="1600" dirty="0">
            <a:solidFill>
              <a:schemeClr val="tx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3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Inter</vt:lpstr>
      <vt:lpstr>Noto Serif Georgian</vt:lpstr>
      <vt:lpstr>Cambria</vt:lpstr>
      <vt:lpstr>Arial</vt:lpstr>
      <vt:lpstr>Custom Design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AI71 Presentation Template</dc:title>
  <dc:creator/>
  <cp:lastModifiedBy/>
  <cp:revision>3</cp:revision>
  <dcterms:modified xsi:type="dcterms:W3CDTF">2026-04-07T22:42:25Z</dcterms:modified>
</cp:coreProperties>
</file>