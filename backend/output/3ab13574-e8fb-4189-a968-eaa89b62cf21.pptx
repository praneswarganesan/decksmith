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embedTrueTypeFonts="1" saveSubsetFonts="1" autoCompressPictures="0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</p:sldIdLst>
  <p:sldSz cx="12192000" cy="685800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Noto Serif Georgian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12D"/>
    <a:srgbClr val="213E10"/>
    <a:srgbClr val="000000"/>
    <a:srgbClr val="244210"/>
    <a:srgbClr val="565555"/>
    <a:srgbClr val="EFE7C9"/>
    <a:srgbClr val="1F3D0E"/>
    <a:srgbClr val="1A340C"/>
    <a:srgbClr val="33621A"/>
    <a:srgbClr val="294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72AA7-8BB5-499D-9D65-079A7E681D3C}" v="3203" dt="2026-04-07T11:09:51.298"/>
  </p1510:revLst>
</p1510:revInfo>
</file>

<file path=ppt/tableStyles.xml><?xml version="1.0" encoding="utf-8"?>
<a:tblStyleLst xmlns:a="http://schemas.openxmlformats.org/drawingml/2006/main" def="{C511D2B9-98F8-4DE3-837E-5A89F6EE62D7}">
  <a:tblStyle styleId="{C511D2B9-98F8-4DE3-837E-5A89F6EE6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12" autoAdjust="0"/>
    <p:restoredTop sz="94641" autoAdjust="0"/>
  </p:normalViewPr>
  <p:slideViewPr>
    <p:cSldViewPr snapToGrid="0">
      <p:cViewPr varScale="1">
        <p:scale>
          <a:sx n="139" d="100"/>
          <a:sy n="139" d="100"/>
        </p:scale>
        <p:origin x="14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48" y="87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EDBDDC-4EBF-EC71-59C5-5312FAC0B4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18C8C-D43E-15E8-B7CC-4E3D4A13ED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EA4D0-8096-46E0-B1C4-3C126C8F9A3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357BA-5AC7-F59F-F75B-D2D2643EC0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0BAF-C5EC-417D-E73B-4D2B791091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E5EB-2A86-49D7-A397-D1C8605AC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852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Company">
    <p:bg>
      <p:bgPr>
        <a:solidFill>
          <a:srgbClr val="213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E2A12CF-9CEF-E604-AFF7-47505C2A88E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6989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12CF-9CEF-E604-AFF7-47505C2A88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112292F-FBB4-ED21-D1DA-D70647840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5965" t="1036" r="15965" b="103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2B8BC1-B07F-18D8-7DF0-DB8417E1DC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E1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D569C31-D758-7138-4AD1-57E306C7E3D5}"/>
              </a:ext>
            </a:extLst>
          </p:cNvPr>
          <p:cNvSpPr/>
          <p:nvPr userDrawn="1"/>
        </p:nvSpPr>
        <p:spPr>
          <a:xfrm>
            <a:off x="1966686" y="1001270"/>
            <a:ext cx="8258628" cy="5856731"/>
          </a:xfrm>
          <a:custGeom>
            <a:avLst/>
            <a:gdLst>
              <a:gd name="csX0" fmla="*/ 4129314 w 8258628"/>
              <a:gd name="csY0" fmla="*/ 0 h 5856731"/>
              <a:gd name="csX1" fmla="*/ 8258628 w 8258628"/>
              <a:gd name="csY1" fmla="*/ 4129314 h 5856731"/>
              <a:gd name="csX2" fmla="*/ 7934126 w 8258628"/>
              <a:gd name="csY2" fmla="*/ 5736629 h 5856731"/>
              <a:gd name="csX3" fmla="*/ 7876270 w 8258628"/>
              <a:gd name="csY3" fmla="*/ 5856731 h 5856731"/>
              <a:gd name="csX4" fmla="*/ 382358 w 8258628"/>
              <a:gd name="csY4" fmla="*/ 5856731 h 5856731"/>
              <a:gd name="csX5" fmla="*/ 324502 w 8258628"/>
              <a:gd name="csY5" fmla="*/ 5736629 h 5856731"/>
              <a:gd name="csX6" fmla="*/ 0 w 8258628"/>
              <a:gd name="csY6" fmla="*/ 4129314 h 5856731"/>
              <a:gd name="csX7" fmla="*/ 4129314 w 8258628"/>
              <a:gd name="csY7" fmla="*/ 0 h 5856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58628" h="5856731">
                <a:moveTo>
                  <a:pt x="4129314" y="0"/>
                </a:moveTo>
                <a:cubicBezTo>
                  <a:pt x="6409871" y="0"/>
                  <a:pt x="8258628" y="1848757"/>
                  <a:pt x="8258628" y="4129314"/>
                </a:cubicBezTo>
                <a:cubicBezTo>
                  <a:pt x="8258628" y="4699453"/>
                  <a:pt x="8143081" y="5242605"/>
                  <a:pt x="7934126" y="5736629"/>
                </a:cubicBezTo>
                <a:lnTo>
                  <a:pt x="7876270" y="5856731"/>
                </a:lnTo>
                <a:lnTo>
                  <a:pt x="382358" y="5856731"/>
                </a:lnTo>
                <a:lnTo>
                  <a:pt x="324502" y="5736629"/>
                </a:lnTo>
                <a:cubicBezTo>
                  <a:pt x="115547" y="5242605"/>
                  <a:pt x="0" y="4699453"/>
                  <a:pt x="0" y="4129314"/>
                </a:cubicBezTo>
                <a:cubicBezTo>
                  <a:pt x="0" y="1848757"/>
                  <a:pt x="1848757" y="0"/>
                  <a:pt x="4129314" y="0"/>
                </a:cubicBezTo>
                <a:close/>
              </a:path>
            </a:pathLst>
          </a:custGeom>
          <a:solidFill>
            <a:srgbClr val="0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Google Shape;14;p2">
            <a:extLst>
              <a:ext uri="{FF2B5EF4-FFF2-40B4-BE49-F238E27FC236}">
                <a16:creationId xmlns:a16="http://schemas.microsoft.com/office/drawing/2014/main" id="{3425AF56-F6CD-9061-EFC1-8F51236A52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69029" y="2220256"/>
            <a:ext cx="7053942" cy="190452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5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Secti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4D3C8D4-777A-24EC-1120-66C43981C50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5074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D3C8D4-777A-24EC-1120-66C43981C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9EB10926-F720-C0DC-E2A1-77C3567B82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6233" y="1647606"/>
            <a:ext cx="8508667" cy="9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54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04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89893" y="383867"/>
            <a:ext cx="11405640" cy="57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700" b="1">
                <a:solidFill>
                  <a:schemeClr val="tx2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2"/>
          </p:nvPr>
        </p:nvSpPr>
        <p:spPr>
          <a:xfrm>
            <a:off x="389893" y="1028475"/>
            <a:ext cx="11405640" cy="1846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0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6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DD956-3879-D258-AF9E-E214730E4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984" b="17878"/>
          <a:stretch>
            <a:fillRect/>
          </a:stretch>
        </p:blipFill>
        <p:spPr>
          <a:xfrm>
            <a:off x="0" y="0"/>
            <a:ext cx="12192000" cy="4216392"/>
          </a:xfrm>
          <a:custGeom>
            <a:avLst/>
            <a:gdLst>
              <a:gd name="csX0" fmla="*/ 0 w 12192000"/>
              <a:gd name="csY0" fmla="*/ 0 h 3657600"/>
              <a:gd name="csX1" fmla="*/ 12192000 w 12192000"/>
              <a:gd name="csY1" fmla="*/ 0 h 3657600"/>
              <a:gd name="csX2" fmla="*/ 12192000 w 12192000"/>
              <a:gd name="csY2" fmla="*/ 3657600 h 3657600"/>
              <a:gd name="csX3" fmla="*/ 0 w 12192000"/>
              <a:gd name="csY3" fmla="*/ 365760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657600"/>
                </a:lnTo>
                <a:lnTo>
                  <a:pt x="0" y="36576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FDD871-CB2B-65F2-5292-4C31FD0DEDE3}"/>
              </a:ext>
            </a:extLst>
          </p:cNvPr>
          <p:cNvSpPr/>
          <p:nvPr userDrawn="1"/>
        </p:nvSpPr>
        <p:spPr>
          <a:xfrm>
            <a:off x="0" y="-1"/>
            <a:ext cx="12192000" cy="421639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34E8BB-CAA5-9A62-22C6-33FFBEB8B496}"/>
              </a:ext>
            </a:extLst>
          </p:cNvPr>
          <p:cNvCxnSpPr/>
          <p:nvPr userDrawn="1"/>
        </p:nvCxnSpPr>
        <p:spPr>
          <a:xfrm>
            <a:off x="371475" y="5232400"/>
            <a:ext cx="114490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F272E0-A0F7-CE30-5149-4DCD9BA3F5FA}"/>
              </a:ext>
            </a:extLst>
          </p:cNvPr>
          <p:cNvSpPr/>
          <p:nvPr userDrawn="1"/>
        </p:nvSpPr>
        <p:spPr>
          <a:xfrm>
            <a:off x="4127500" y="4559300"/>
            <a:ext cx="3937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N" sz="4800" b="1" dirty="0">
                <a:solidFill>
                  <a:schemeClr val="bg2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0519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1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1699DF0-5B37-8761-01BE-31839A765C34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392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99DF0-5B37-8761-01BE-31839A765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35" r:id="rId2"/>
    <p:sldLayoutId id="2147483736" r:id="rId3"/>
    <p:sldLayoutId id="2147483737" r:id="rId4"/>
    <p:sldLayoutId id="214748373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Comprehensive executive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Comprehensive executive analysis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"title": "Competitive Analysis",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"subtitle": "Overview",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"text": [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"type": "paragraph",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Designing early warning systems for ai market overheating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4845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64845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364845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46557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"title": "Designing Early Warning Systems for AI Market Overheating",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5656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280160"/>
            <a:ext cx="364845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280160"/>
            <a:ext cx="364845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353312"/>
            <a:ext cx="364845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920240"/>
            <a:ext cx="346557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"source_content": [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18704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280160"/>
            <a:ext cx="364845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280160"/>
            <a:ext cx="364845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353312"/>
            <a:ext cx="364845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1920240"/>
            <a:ext cx="346557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"Early warning systems should combine market-based signals, balance sheet and funding signals,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Current global AI regulatory frameworks and oversight mechanisms, including European Union (EU)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European Union (EU) AI Act, which includes a phase-in period for general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United States, where the Executive Order 14110 was rescinded on January 20,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NIST AI Risk Management Framework 1.0, which provides de facto control catalogs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Monetary policy implementation of AI-driven asset inflation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2. Wealth effect and cost of capital 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3133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3. When equity valuations rise in AI exposed firms, household net worth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4. Financial conditions can ease endogenously through equity repricing and easier credit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5. Equity market concentration can increase the macro sensitivity of household wealth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Proposed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"title": "Stress-testing frameworks tailored to ai infrastructure and business",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"content": "Policy objective. Develop repeatable, comparable stress tests that capture AI specific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1. Data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Preferred standard. Use APA 7th edition for all in-text citations and the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In-text citation rules: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14300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14300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6" y="123444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Use author or organization and year for narrative or parenthetical citations. If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240280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2331720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For website updates over time, include the publication date shown on the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"title": "Preventive mechanism for AI marketing fraud prevention",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0436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5028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5028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5028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468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"source_content": "Froud risk in AI markets is amplified by complexity, by the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8265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2857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32857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2857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4297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"title": "Marketing controls for AI claims",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6094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0686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20686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0686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2126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"source_content": "Marketing controls for AI claims. Treat AI capability claims as material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3923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8515" y="1280160"/>
            <a:ext cx="2123236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8515" y="1280160"/>
            <a:ext cx="212323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8515" y="1353312"/>
            <a:ext cx="212323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9955" y="1920240"/>
            <a:ext cx="19403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"title": "Detect and monitor AI marketing fraud",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Current global ai regulatory frameworks and oversight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 (Units)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60,000,000.00 Jobs.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projected global jobs created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53,000,000.00 Jobs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Equivalent to the revision magnitude.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ILO implied reduction versus prior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7,000,000.00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Revised down from 1.700%.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Global employment growth rate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1.500%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Down from 53.000%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Labor income share of GDP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52.400%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Before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After tightening 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period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LTV ratio on new residential mortgages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September 2009 vs recent months in 2014.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55.0%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64.0%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Average DSR on new residential mortgages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August 2010 vs recent months in 2014.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Annualized growth in outstanding residential mortgage loans percent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Since 2010 vs since Q2 2013.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8.7%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Requirement or milestone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[81](https://www.sec.gov/newsroom/press-releases/2024-58)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Customer notification deadline after awareness of certain incidents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12/03/2025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larger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06/03/2026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[85](https://www.finra.org/rules-guidance/guidance/sec-regulation-s-p-compliance-date-reminder-20251114)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Compliance date for smaller entities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prevention and enforcement in ai-related investment offerings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7455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Reference basis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Countercyclical capital buffer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Raises bank capital requirements in periods of excess credit growth and can be released in downturns.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Increase resilience during credit booms.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Basel Committee CCyB framework [104](https://www.bis.org/bcbs/ccyb/).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Supervisory stress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Standardized scenarios applied to banks and systemically important intermediaries with AI linked exposures.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Identify vulnerabilities before repricing events.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F2937"/>
                          </a:solidFill>
                        </a:rPr>
                        <a:t>Basel Committee guidance on CCyB and macro financial environment linkages [104](https://www.bis.org/bcbs/ccyb/).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ustom 9">
      <a:dk1>
        <a:srgbClr val="000000"/>
      </a:dk1>
      <a:lt1>
        <a:srgbClr val="FFFFFF"/>
      </a:lt1>
      <a:dk2>
        <a:srgbClr val="262626"/>
      </a:dk2>
      <a:lt2>
        <a:srgbClr val="566C31"/>
      </a:lt2>
      <a:accent1>
        <a:srgbClr val="EFF3E5"/>
      </a:accent1>
      <a:accent2>
        <a:srgbClr val="33621A"/>
      </a:accent2>
      <a:accent3>
        <a:srgbClr val="1A340C"/>
      </a:accent3>
      <a:accent4>
        <a:srgbClr val="EFE7C9"/>
      </a:accent4>
      <a:accent5>
        <a:srgbClr val="2C5A4F"/>
      </a:accent5>
      <a:accent6>
        <a:srgbClr val="8F482C"/>
      </a:accent6>
      <a:hlink>
        <a:srgbClr val="283754"/>
      </a:hlink>
      <a:folHlink>
        <a:srgbClr val="0097A7"/>
      </a:folHlink>
    </a:clrScheme>
    <a:fontScheme name="Custom 4">
      <a:majorFont>
        <a:latin typeface="Cambria"/>
        <a:ea typeface=""/>
        <a:cs typeface="Noto Serif Georgian"/>
      </a:majorFont>
      <a:minorFont>
        <a:latin typeface="Cambria"/>
        <a:ea typeface="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tx1"/>
          </a:buClr>
          <a:buFont typeface="Arial" panose="020B0604020202020204" pitchFamily="34" charset="0"/>
          <a:buChar char="•"/>
          <a:defRPr sz="1600" dirty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Inter</vt:lpstr>
      <vt:lpstr>Noto Serif Georgian</vt:lpstr>
      <vt:lpstr>Cambria</vt:lpstr>
      <vt:lpstr>Arial</vt:lpstr>
      <vt:lpstr>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AI71 Presentation Template</dc:title>
  <dc:creator/>
  <cp:lastModifiedBy/>
  <cp:revision>3</cp:revision>
  <dcterms:modified xsi:type="dcterms:W3CDTF">2026-04-07T22:42:25Z</dcterms:modified>
</cp:coreProperties>
</file>