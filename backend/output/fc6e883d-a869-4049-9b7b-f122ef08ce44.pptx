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12192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EF4444"/>
    <a:srgbClr val="16FFBB"/>
    <a:srgbClr val="0A081B"/>
    <a:srgbClr val="44546A"/>
    <a:srgbClr val="030617"/>
    <a:srgbClr val="000421"/>
    <a:srgbClr val="00021F"/>
    <a:srgbClr val="D14FBC"/>
    <a:srgbClr val="C24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7F05FF-4F5B-7294-FE43-8E71785503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49686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B3C7F35-2C78-0162-8365-11203BBC79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3000">
                <a:schemeClr val="accent1">
                  <a:lumMod val="20000"/>
                  <a:lumOff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38AB0-CF9C-70A0-D359-7585CB0AED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1867" t="37200" r="11867" b="37200"/>
          <a:stretch>
            <a:fillRect/>
          </a:stretch>
        </p:blipFill>
        <p:spPr>
          <a:xfrm>
            <a:off x="342900" y="795193"/>
            <a:ext cx="1245323" cy="4180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899" y="3037671"/>
            <a:ext cx="8496300" cy="49244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 algn="l">
              <a:buNone/>
              <a:defRPr lang="ar-SA" sz="32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4035772"/>
            <a:ext cx="8394699" cy="276999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 rtl="0">
              <a:buNone/>
              <a:defRPr lang="ar-SA" sz="1800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A9DBAB-558D-8145-FF41-4810D6034053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82943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88A90-F3F6-B309-3F62-0F606CCE0AFA}"/>
              </a:ext>
            </a:extLst>
          </p:cNvPr>
          <p:cNvSpPr/>
          <p:nvPr userDrawn="1"/>
        </p:nvSpPr>
        <p:spPr>
          <a:xfrm>
            <a:off x="1" y="0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04DA85D-5BC8-0CD0-E393-A721448300E7}"/>
              </a:ext>
            </a:extLst>
          </p:cNvPr>
          <p:cNvSpPr/>
          <p:nvPr userDrawn="1"/>
        </p:nvSpPr>
        <p:spPr>
          <a:xfrm>
            <a:off x="1" y="3424843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CE8AC29-1116-4CB5-3951-E0A46ADFB3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6F6F9C-1C5A-6105-55C9-CB88CC830628}"/>
              </a:ext>
            </a:extLst>
          </p:cNvPr>
          <p:cNvSpPr/>
          <p:nvPr userDrawn="1"/>
        </p:nvSpPr>
        <p:spPr>
          <a:xfrm>
            <a:off x="6319962" y="2890695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BCD38-175B-BBC4-D4A2-A3DA7F054A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795000" y="538609"/>
            <a:ext cx="1054100" cy="353824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012618-AF64-A84B-F7F8-F3F7A0DC89A4}"/>
              </a:ext>
            </a:extLst>
          </p:cNvPr>
          <p:cNvSpPr/>
          <p:nvPr userDrawn="1"/>
        </p:nvSpPr>
        <p:spPr>
          <a:xfrm flipH="1" flipV="1">
            <a:off x="0" y="0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881A4F-4C61-7914-FE33-A834C81EA477}"/>
              </a:ext>
            </a:extLst>
          </p:cNvPr>
          <p:cNvSpPr/>
          <p:nvPr userDrawn="1"/>
        </p:nvSpPr>
        <p:spPr>
          <a:xfrm>
            <a:off x="342901" y="1718222"/>
            <a:ext cx="11506199" cy="3347995"/>
          </a:xfrm>
          <a:prstGeom prst="roundRect">
            <a:avLst>
              <a:gd name="adj" fmla="val 75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26F25-BA94-7876-3BA5-BFDA3E3EE748}"/>
              </a:ext>
            </a:extLst>
          </p:cNvPr>
          <p:cNvSpPr/>
          <p:nvPr userDrawn="1"/>
        </p:nvSpPr>
        <p:spPr>
          <a:xfrm>
            <a:off x="342901" y="1791783"/>
            <a:ext cx="11506199" cy="3347995"/>
          </a:xfrm>
          <a:prstGeom prst="roundRect">
            <a:avLst>
              <a:gd name="adj" fmla="val 57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2916324"/>
            <a:ext cx="11163300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algn="ctr">
              <a:buNone/>
              <a:defRPr lang="ar-SA" sz="36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50" y="3953681"/>
            <a:ext cx="111633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rtl="0">
              <a:buNone/>
              <a:defRPr lang="ar-SA" sz="2000" dirty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16A6D4-5F4F-407C-E119-890C130FB891}"/>
              </a:ext>
            </a:extLst>
          </p:cNvPr>
          <p:cNvCxnSpPr>
            <a:cxnSpLocks/>
          </p:cNvCxnSpPr>
          <p:nvPr userDrawn="1"/>
        </p:nvCxnSpPr>
        <p:spPr>
          <a:xfrm>
            <a:off x="1768475" y="3712001"/>
            <a:ext cx="865505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5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97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7844FB-0A5F-215B-0393-7F836F54A537}"/>
              </a:ext>
            </a:extLst>
          </p:cNvPr>
          <p:cNvSpPr/>
          <p:nvPr userDrawn="1"/>
        </p:nvSpPr>
        <p:spPr>
          <a:xfrm>
            <a:off x="3176" y="3176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7D7566-487E-39C4-9258-18CF6637D650}"/>
              </a:ext>
            </a:extLst>
          </p:cNvPr>
          <p:cNvCxnSpPr>
            <a:cxnSpLocks/>
          </p:cNvCxnSpPr>
          <p:nvPr userDrawn="1"/>
        </p:nvCxnSpPr>
        <p:spPr>
          <a:xfrm>
            <a:off x="342900" y="3041650"/>
            <a:ext cx="0" cy="77470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E2802A0-B801-37B2-FB7A-980963FBF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1" y="3213557"/>
            <a:ext cx="11137899" cy="430887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algn="l">
              <a:buNone/>
              <a:defRPr lang="ar-SA" sz="28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A75772-7F72-DD97-10B9-D86E7FEA3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5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260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59179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9DB82F-3915-0410-2784-66107760BA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FC3E1E-F65E-6A95-DF82-F9551D2F1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624461" y="538609"/>
            <a:ext cx="1224639" cy="41106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6BABDAE2-0AB7-D702-49F4-CE5E19AF8681}"/>
              </a:ext>
            </a:extLst>
          </p:cNvPr>
          <p:cNvSpPr/>
          <p:nvPr userDrawn="1"/>
        </p:nvSpPr>
        <p:spPr>
          <a:xfrm>
            <a:off x="3026210" y="1397000"/>
            <a:ext cx="4064000" cy="406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30506E0-9589-560C-554A-0A6DEDD7E8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03" t="17706" r="44534"/>
          <a:stretch>
            <a:fillRect/>
          </a:stretch>
        </p:blipFill>
        <p:spPr>
          <a:xfrm>
            <a:off x="3127810" y="1397000"/>
            <a:ext cx="4064000" cy="4064000"/>
          </a:xfrm>
          <a:custGeom>
            <a:avLst/>
            <a:gdLst>
              <a:gd name="csX0" fmla="*/ 2032000 w 4064000"/>
              <a:gd name="csY0" fmla="*/ 0 h 4064000"/>
              <a:gd name="csX1" fmla="*/ 4064000 w 4064000"/>
              <a:gd name="csY1" fmla="*/ 2032000 h 4064000"/>
              <a:gd name="csX2" fmla="*/ 2032000 w 4064000"/>
              <a:gd name="csY2" fmla="*/ 4064000 h 4064000"/>
              <a:gd name="csX3" fmla="*/ 0 w 4064000"/>
              <a:gd name="csY3" fmla="*/ 2032000 h 4064000"/>
              <a:gd name="csX4" fmla="*/ 2032000 w 4064000"/>
              <a:gd name="csY4" fmla="*/ 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64000" h="4064000">
                <a:moveTo>
                  <a:pt x="2032000" y="0"/>
                </a:moveTo>
                <a:cubicBezTo>
                  <a:pt x="3154243" y="0"/>
                  <a:pt x="4064000" y="909757"/>
                  <a:pt x="4064000" y="2032000"/>
                </a:cubicBezTo>
                <a:cubicBezTo>
                  <a:pt x="4064000" y="3154243"/>
                  <a:pt x="3154243" y="4064000"/>
                  <a:pt x="2032000" y="4064000"/>
                </a:cubicBezTo>
                <a:cubicBezTo>
                  <a:pt x="909757" y="4064000"/>
                  <a:pt x="0" y="3154243"/>
                  <a:pt x="0" y="2032000"/>
                </a:cubicBezTo>
                <a:cubicBezTo>
                  <a:pt x="0" y="909757"/>
                  <a:pt x="909757" y="0"/>
                  <a:pt x="2032000" y="0"/>
                </a:cubicBez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C0506BDE-8D96-E0A7-796E-2DF3F241EC61}"/>
              </a:ext>
            </a:extLst>
          </p:cNvPr>
          <p:cNvSpPr/>
          <p:nvPr userDrawn="1"/>
        </p:nvSpPr>
        <p:spPr>
          <a:xfrm>
            <a:off x="3127810" y="1397000"/>
            <a:ext cx="4064000" cy="4064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2AC1FB-ED2F-A4C8-6914-8DAA83AA6991}"/>
              </a:ext>
            </a:extLst>
          </p:cNvPr>
          <p:cNvSpPr>
            <a:spLocks/>
          </p:cNvSpPr>
          <p:nvPr userDrawn="1"/>
        </p:nvSpPr>
        <p:spPr>
          <a:xfrm>
            <a:off x="3821378" y="2875002"/>
            <a:ext cx="5344412" cy="110799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200" b="1" dirty="0">
                <a:solidFill>
                  <a:schemeClr val="bg1"/>
                </a:solidFill>
                <a:latin typeface="+mj-lt"/>
              </a:rPr>
              <a:t>Thank </a:t>
            </a:r>
            <a:r>
              <a:rPr lang="en-US" sz="7200" b="1" dirty="0">
                <a:solidFill>
                  <a:schemeClr val="accent1"/>
                </a:solidFill>
                <a:latin typeface="+mj-lt"/>
              </a:rPr>
              <a:t>You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17913F-DDB2-4DF7-0201-E1CB9537CEA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5247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AE374B8-8CEB-7583-BAB3-A30E27B0A8D4}"/>
              </a:ext>
            </a:extLst>
          </p:cNvPr>
          <p:cNvCxnSpPr>
            <a:cxnSpLocks/>
          </p:cNvCxnSpPr>
          <p:nvPr userDrawn="1"/>
        </p:nvCxnSpPr>
        <p:spPr>
          <a:xfrm>
            <a:off x="9375340" y="610552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946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vmlDrawing" Target="../drawings/vmlDrawing1.vml"/><Relationship Id="rId9" Type="http://schemas.openxmlformats.org/officeDocument/2006/relationships/tags" Target="../tags/tag2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A759D38-EDD7-F583-B5D8-5890008011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68" r:id="rId3"/>
    <p:sldLayoutId id="2147483670" r:id="rId4"/>
    <p:sldLayoutId id="2147483666" r:id="rId5"/>
    <p:sldLayoutId id="2147483671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Transforming Our Future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Embrace innovation for a sustainable future.</a:t>
            </a:r>
          </a:p>
          <a:p>
            <a:r>
              <a:t>Leverage insights to drive transformative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Introduce Executive Analysis Framework</a:t>
            </a:r>
          </a:p>
          <a:p>
            <a:r>
              <a:t>- Explore Key Metrics Driving Performance</a:t>
            </a:r>
          </a:p>
          <a:p>
            <a:r>
              <a:t>- Identify Challenges Impacting Growth</a:t>
            </a:r>
          </a:p>
          <a:p>
            <a:r>
              <a:t>- Review Optimized Processes for Efficiency</a:t>
            </a:r>
          </a:p>
          <a:p>
            <a:r>
              <a:t>- Summarize Key Findings and Insights</a:t>
            </a:r>
          </a:p>
          <a:p>
            <a:r>
              <a:t>- Open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Confront escalating market competition to retain leadership.</a:t>
            </a:r>
          </a:p>
          <a:p>
            <a:r>
              <a:t>- Adapt swiftly to rapid technological disruptions.</a:t>
            </a:r>
          </a:p>
          <a:p>
            <a:r>
              <a:t>- Navigate complex regulations for compliance.</a:t>
            </a:r>
          </a:p>
          <a:p>
            <a:r>
              <a:t>- Attract and retain top talent in marketplace.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Strategic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Analyze market trends for growth opportunities.</a:t>
            </a:r>
          </a:p>
          <a:p>
            <a:r>
              <a:t>- Innovate products for competitive differentiation.</a:t>
            </a:r>
          </a:p>
          <a:p>
            <a:r>
              <a:t>- Enhance customer engagement to boost loyalty.</a:t>
            </a:r>
          </a:p>
          <a:p>
            <a:r>
              <a:t>- Leverage data analytics for informed decisions.</a:t>
            </a:r>
          </a:p>
          <a:p>
            <a:r>
              <a:t>- Implement agile methodologies to accelerate execution.</a:t>
            </a:r>
          </a:p>
          <a:p>
            <a:r>
              <a:t>- Monitor performance metrics for continuous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of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Q1 2024: Launch innovative product to market.</a:t>
            </a:r>
          </a:p>
          <a:p>
            <a:r>
              <a:t>- Q2 2024: Expand market reach into new demographics.</a:t>
            </a:r>
          </a:p>
          <a:p>
            <a:r>
              <a:t>- Q3 2024: Evaluate metrics and refine strategy.</a:t>
            </a:r>
          </a:p>
          <a:p>
            <a:r>
              <a:t>- Leverage insights to drive future initiatives.</a:t>
            </a:r>
          </a:p>
          <a:p>
            <a:r>
              <a:t>- Align resources for optimal execution.</a:t>
            </a:r>
          </a:p>
          <a:p>
            <a:r>
              <a:t>- Achieve sustainable growth through strategic milestones.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Achieve 45% market share by 2025.</a:t>
            </a:r>
          </a:p>
          <a:p>
            <a:r>
              <a:t>- Expand from 30% market share baseline.</a:t>
            </a:r>
          </a:p>
          <a:p>
            <a:r>
              <a:t>- Capture emerging market growth opportunities.</a:t>
            </a:r>
          </a:p>
          <a:p>
            <a:r>
              <a:t>- Leverage competitive advantages for positioning.</a:t>
            </a:r>
          </a:p>
          <a:p>
            <a:r>
              <a:t>- Drive innovation to boost customer engagement.</a:t>
            </a:r>
          </a:p>
          <a:p>
            <a:r>
              <a:t>- Align resources for aggressive market strategy.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Data-Driven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Drive 20% increase in customer satisfaction scores.</a:t>
            </a:r>
          </a:p>
          <a:p>
            <a:r>
              <a:t>- Achieve 15% year-over-year sales growth.</a:t>
            </a:r>
          </a:p>
          <a:p>
            <a:r>
              <a:t>- Leverage data to enhance product offerings.</a:t>
            </a:r>
          </a:p>
          <a:p>
            <a:r>
              <a:t>- Highlight key customer feedback themes for loyalty.</a:t>
            </a:r>
          </a:p>
          <a:p>
            <a:r>
              <a:t>- Track emerging trends in market demand.</a:t>
            </a:r>
          </a:p>
          <a:p>
            <a:r>
              <a:t>- Utilize insights to refine strategic initiatives.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Drive metrics for substantial growth.</a:t>
            </a:r>
          </a:p>
          <a:p>
            <a:r>
              <a:t>- Address challenges with strategic agility.</a:t>
            </a:r>
          </a:p>
          <a:p>
            <a:r>
              <a:t>- Leverage streamlined processes for success.</a:t>
            </a:r>
          </a:p>
          <a:p>
            <a:r>
              <a:t>- Prioritize data-driven decisions for outcomes.</a:t>
            </a:r>
          </a:p>
          <a:p>
            <a:r>
              <a:t>- Cultivate innovation for competitive advantage.</a:t>
            </a:r>
          </a:p>
          <a:p>
            <a:r>
              <a:t>- Align teams for cohesive execution.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Next Steps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Questions &amp; 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5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spr ai">
      <a:majorFont>
        <a:latin typeface="Libre Baskerville"/>
        <a:ea typeface="inter"/>
        <a:cs typeface="Libre Baskerville"/>
      </a:majorFont>
      <a:minorFont>
        <a:latin typeface="Inter"/>
        <a:ea typeface="inter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Inter</vt:lpstr>
      <vt:lpstr>Inter</vt:lpstr>
      <vt:lpstr>Libre Baskerville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