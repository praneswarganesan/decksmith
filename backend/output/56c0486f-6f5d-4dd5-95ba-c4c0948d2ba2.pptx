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(units)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Global generative AI VC funding</c:v>
                </c:pt>
                <c:pt idx="1">
                  <c:v>Global generative AI VC deals</c:v>
                </c:pt>
                <c:pt idx="2">
                  <c:v>Global generative AI VC funding</c:v>
                </c:pt>
                <c:pt idx="3">
                  <c:v>U.S. private AI investment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56000000000.0</c:v>
                </c:pt>
                <c:pt idx="1">
                  <c:v>885.0</c:v>
                </c:pt>
                <c:pt idx="2">
                  <c:v>29100000000.0</c:v>
                </c:pt>
                <c:pt idx="3">
                  <c:v>109100000000.0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Period (units)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Global generative AI VC funding</c:v>
                </c:pt>
                <c:pt idx="1">
                  <c:v>Global generative AI VC deals</c:v>
                </c:pt>
                <c:pt idx="2">
                  <c:v>Global generative AI VC funding</c:v>
                </c:pt>
                <c:pt idx="3">
                  <c:v>U.S. private AI investment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2024.0</c:v>
                </c:pt>
                <c:pt idx="1">
                  <c:v>2024.0</c:v>
                </c:pt>
                <c:pt idx="2">
                  <c:v>2023.0</c:v>
                </c:pt>
                <c:pt idx="3">
                  <c:v>2024.0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Global generative AI VC funding</c:v>
                </c:pt>
                <c:pt idx="1">
                  <c:v>Global generative AI VC deals</c:v>
                </c:pt>
                <c:pt idx="2">
                  <c:v>Global generative AI VC funding</c:v>
                </c:pt>
                <c:pt idx="3">
                  <c:v>U.S. private AI investment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2025.0</c:v>
                </c:pt>
                <c:pt idx="1">
                  <c:v>2025.0</c:v>
                </c:pt>
                <c:pt idx="2">
                  <c:v>2025.0</c:v>
                </c:pt>
                <c:pt idx="3">
                  <c:v>2025.0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(units)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Public equities</c:v>
                </c:pt>
                <c:pt idx="1">
                  <c:v>Public equities</c:v>
                </c:pt>
                <c:pt idx="2">
                  <c:v>Private markets</c:v>
                </c:pt>
                <c:pt idx="3">
                  <c:v>Private markets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4335000000000.0</c:v>
                </c:pt>
                <c:pt idx="1">
                  <c:v>4604261424163.84</c:v>
                </c:pt>
                <c:pt idx="2">
                  <c:v>100400000000.0</c:v>
                </c:pt>
                <c:pt idx="3">
                  <c:v>225800000000.0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Period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Public equities</c:v>
                </c:pt>
                <c:pt idx="1">
                  <c:v>Public equities</c:v>
                </c:pt>
                <c:pt idx="2">
                  <c:v>Private markets</c:v>
                </c:pt>
                <c:pt idx="3">
                  <c:v>Private markets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2026.0</c:v>
                </c:pt>
                <c:pt idx="1">
                  <c:v>7.0</c:v>
                </c:pt>
                <c:pt idx="2">
                  <c:v>2024.0</c:v>
                </c:pt>
                <c:pt idx="3">
                  <c:v>2025.0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Comprehensive executive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Tailored guidance for institutional investors navigating ai risk | Monetary policy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Tailored guidance for institutional investors navigating ai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section translates the report’s bubble risk indicators, valuation and financing dynamics,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Recommendations prioritize measurable controls, governance, and disclosure practices that can be 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Portfolio construction and exposure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Treat AI exposure as a factor cluster rather than a sector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bubble, if it forms, is most likely to transmit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For central banks and financial authorities, the key challenge is to distinguish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Recent official sector assessments emphasize that stretched valuations and market concentration can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driven asset inflation can complicate monetary policy by loosening financial conditions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Safeguards for retail and institutional investors in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Investor protection in AI linked markets should be treated as a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Because AI narratives can amplify valuation dispersion and because AI business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 practice, this requires coordinated action across securities regulators, self regulatory organizations,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Retail investor safeguards should focus on preventing mis selling, limiting exposure 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Historical examples of successful bubble avoidance or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This section translates historical bubble mitigation experience into practical lessons for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The case studies emphasize three recurring success factors.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Early action that targets amplification mechanisms such as leverage, maturity mismatch,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Rules that improve comparability of risk and reduce information asymmetry, especially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Valuation multiples in context of historical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section consolidates measurable market signals and structural fragilities that, taken together,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goal is not to assert that AI lacks long run economic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Quantitative warning indicators tend to cluster in three places: public market pricing,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most reliable overheating signal is not any single extreme, but a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 burst would most plausibly transmit to the real economy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key mechanism is a rapid repricing of high duration growth assets,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macro impact would likely be nonlinear because AI investment is increasingly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Across advanced economies, the most material near term downside risks are a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51560"/>
          <a:ext cx="77724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Public versus private ai valuation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51560"/>
          <a:ext cx="77724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This section translates the earlier risk indicators and investor due diligence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The recommendations are designed to be globally interoperable, so that disclosures 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Reduce mispricing risk by making AI specific value drivers auditable and comparable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Recommended disclosure baseline for public markets.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section translates the valuation and financing signals identified earlier into 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It focuses on where frontier and enterprise AI are genuinely delivering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These technical constraints matter for bubble risk because they can delay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capabilities are strongest where tasks are language centric, pattern heavy, and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Key Insight: Comprehensive executive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